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20" r:id="rId2"/>
    <p:sldId id="358" r:id="rId3"/>
    <p:sldId id="408" r:id="rId4"/>
    <p:sldId id="391" r:id="rId5"/>
    <p:sldId id="409" r:id="rId6"/>
    <p:sldId id="414" r:id="rId7"/>
    <p:sldId id="394" r:id="rId8"/>
    <p:sldId id="415" r:id="rId9"/>
    <p:sldId id="417" r:id="rId10"/>
    <p:sldId id="392" r:id="rId11"/>
    <p:sldId id="393" r:id="rId12"/>
    <p:sldId id="411" r:id="rId13"/>
    <p:sldId id="412" r:id="rId14"/>
    <p:sldId id="413" r:id="rId15"/>
    <p:sldId id="410" r:id="rId16"/>
    <p:sldId id="416" r:id="rId17"/>
    <p:sldId id="38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C9DDE03-32D6-4AAA-B622-E4443C686E0B}">
          <p14:sldIdLst>
            <p14:sldId id="320"/>
            <p14:sldId id="358"/>
          </p14:sldIdLst>
        </p14:section>
        <p14:section name="IO-aware" id="{3197EC15-C0FD-CF41-A697-ED3B6147A4D6}">
          <p14:sldIdLst>
            <p14:sldId id="408"/>
            <p14:sldId id="391"/>
            <p14:sldId id="409"/>
          </p14:sldIdLst>
        </p14:section>
        <p14:section name="Network awareness" id="{B08A85B4-A786-7345-809A-B42E5D1EEB90}">
          <p14:sldIdLst>
            <p14:sldId id="414"/>
            <p14:sldId id="394"/>
            <p14:sldId id="415"/>
            <p14:sldId id="417"/>
          </p14:sldIdLst>
        </p14:section>
        <p14:section name="Multi job scheduling" id="{FCF2AC48-53F4-B649-A279-D68443D32391}">
          <p14:sldIdLst>
            <p14:sldId id="392"/>
            <p14:sldId id="393"/>
            <p14:sldId id="411"/>
            <p14:sldId id="412"/>
            <p14:sldId id="413"/>
            <p14:sldId id="410"/>
          </p14:sldIdLst>
        </p14:section>
        <p14:section name="References" id="{F46FBD21-37EE-3444-9523-1267B4E210B9}">
          <p14:sldIdLst>
            <p14:sldId id="416"/>
            <p14:sldId id="38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443ED59-20C7-4FDF-8DCA-8A14D1AA1C8C}" name="Microsoft Office User" initials="MOU" userId="Microsoft Office User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9B73"/>
    <a:srgbClr val="F4A90C"/>
    <a:srgbClr val="EBEBEB"/>
    <a:srgbClr val="F2F2F2"/>
    <a:srgbClr val="F18D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39" autoAdjust="0"/>
    <p:restoredTop sz="95534" autoAdjust="0"/>
  </p:normalViewPr>
  <p:slideViewPr>
    <p:cSldViewPr snapToGrid="0">
      <p:cViewPr varScale="1">
        <p:scale>
          <a:sx n="99" d="100"/>
          <a:sy n="99" d="100"/>
        </p:scale>
        <p:origin x="19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85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288D2E-271E-4DFC-86DD-975E66061599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D1C0D-7404-44CD-9A93-34AF9A45F0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586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BBED53-6D14-4D6A-AE5F-79C02336EFB1}" type="datetimeFigureOut">
              <a:rPr lang="en-US" smtClean="0"/>
              <a:t>6/11/26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96216-5D9A-4B36-A27F-B72EA02E52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4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788268-9DD2-41D6-9C27-E82A0043553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709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en-IR" dirty="0"/>
              <a:t>ommunication is the bottleneck. </a:t>
            </a:r>
            <a:r>
              <a:rPr lang="en-US" dirty="0"/>
              <a:t>S</a:t>
            </a:r>
            <a:r>
              <a:rPr lang="en-IR" dirty="0"/>
              <a:t>ilod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958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92CDC-3038-5814-5003-89A224E0D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B737E6-252F-F78F-B560-3FC44A5A17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7DAB4F-6A3E-0615-1C72-05B3B6473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5330-24EA-4E9F-6EAE-B1ADFFEF2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35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Does not consider network topology, or variables.</a:t>
            </a:r>
          </a:p>
          <a:p>
            <a:r>
              <a:rPr lang="en-IR" dirty="0"/>
              <a:t>It is iterative, compared with alpha optimiziation.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43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36785-DA2B-AB92-AC09-EE1E83ABF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92F533-5E40-9412-114C-BB53F17E9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3DB82-2E20-07BE-0D18-AC8E8C67D7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Does not consider network topology, or variables.</a:t>
            </a:r>
          </a:p>
          <a:p>
            <a:r>
              <a:rPr lang="en-IR" dirty="0"/>
              <a:t>It is iterative, compared with alpha optimiziation.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8F24B-ED2C-B78A-8501-3E772285CA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43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A77DD-0E34-2594-331A-7E2CE7D44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111C5-BD1A-D661-4339-98A720C2E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B1CE26-6BA7-AA12-23B9-DA21EEFEC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Does not consider network topology, or variables.</a:t>
            </a:r>
          </a:p>
          <a:p>
            <a:r>
              <a:rPr lang="en-IR" dirty="0"/>
              <a:t>It is iterative, compared with alpha optimiziation.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DACEB-3EDA-BF10-C89D-470BA2D76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5979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38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5CF3E-9247-1FE8-2FD7-BA6EF38B4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6541FB-5AC2-278E-6D0A-9D9CE6381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48A8C6-F06E-29AF-9562-6F08520AB0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R" dirty="0"/>
              <a:t>Does not consider network topology, or variables.</a:t>
            </a:r>
          </a:p>
          <a:p>
            <a:r>
              <a:rPr lang="en-IR" dirty="0"/>
              <a:t>It is iterative, compared with alpha optimiziation.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BECA3-D219-DB30-6957-1948E7B2D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96216-5D9A-4B36-A27F-B72EA02E524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01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0BF4F-13D9-4364-99A2-555F74E8CAF4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384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20194-46F8-4C99-AC88-B6F0F9B4A6AC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6583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4F728-3C06-4C04-9839-E61A786799AA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6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9360D-2102-4A13-91F7-375D506891B8}" type="datetime1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048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268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2BD2-7EC5-4046-A3B8-78DFEB21CA34}" type="datetime1">
              <a:rPr lang="en-US" smtClean="0"/>
              <a:t>6/11/26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62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6BBA4-5FD2-4C54-B814-8F4A030AF0AB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11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/>
            </a:lvl1pPr>
          </a:lstStyle>
          <a:p>
            <a:fld id="{5C1705F3-4696-40A6-9A34-D433DE9A99A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23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6F68F-7AA1-4141-B1FF-8DFD54BAD094}" type="datetime1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89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CF000-EFF3-4925-B1B9-F4A43BC2232F}" type="datetime1">
              <a:rPr lang="en-US" smtClean="0"/>
              <a:t>6/11/26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31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1BF10-1CEB-410B-8D44-3BDA7AF713F7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7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EC6AD-6933-4CF7-A503-3BC448A8FE91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6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2702" y="365125"/>
            <a:ext cx="9961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F0FC9-BE06-4E74-B503-196B9FB5E09B}" type="datetime1">
              <a:rPr lang="en-US" smtClean="0"/>
              <a:t>6/11/26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Mohammad A. Akhaee, ECE, UT, Room #203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705F3-4696-40A6-9A34-D433DE9A99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5261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7750" y="1633342"/>
            <a:ext cx="10096500" cy="2387600"/>
          </a:xfrm>
        </p:spPr>
        <p:txBody>
          <a:bodyPr>
            <a:normAutofit fontScale="90000"/>
          </a:bodyPr>
          <a:lstStyle/>
          <a:p>
            <a:r>
              <a:rPr lang="en-IR" i="1" dirty="0">
                <a:solidFill>
                  <a:srgbClr val="FFFF00"/>
                </a:solidFill>
              </a:rPr>
              <a:t>On Improving Efficiency of Distributed Deep Learning Training</a:t>
            </a:r>
            <a:endParaRPr lang="en-US" i="1" dirty="0">
              <a:solidFill>
                <a:srgbClr val="FFFF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47750" y="3851564"/>
            <a:ext cx="9144000" cy="1945079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FFC000"/>
                </a:solidFill>
              </a:rPr>
              <a:t>Presenter: Alireza Karimi, Taha </a:t>
            </a:r>
            <a:r>
              <a:rPr lang="en-US" dirty="0" err="1">
                <a:solidFill>
                  <a:srgbClr val="FFC000"/>
                </a:solidFill>
              </a:rPr>
              <a:t>Majlesi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C33C7B-E152-EAE0-EAFA-D1B69BC2705E}"/>
              </a:ext>
            </a:extLst>
          </p:cNvPr>
          <p:cNvSpPr txBox="1"/>
          <p:nvPr/>
        </p:nvSpPr>
        <p:spPr>
          <a:xfrm>
            <a:off x="942109" y="526473"/>
            <a:ext cx="1011382" cy="369332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IR" dirty="0"/>
              <a:t> DISTML</a:t>
            </a:r>
          </a:p>
        </p:txBody>
      </p:sp>
    </p:spTree>
    <p:extLst>
      <p:ext uri="{BB962C8B-B14F-4D97-AF65-F5344CB8AC3E}">
        <p14:creationId xmlns:p14="http://schemas.microsoft.com/office/powerpoint/2010/main" val="635303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546D9-B247-E500-3C5D-D1938074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F6990-6CFD-96B6-3F14-CA935A524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2EC2F25-F58F-4507-5187-991D1052B46B}"/>
              </a:ext>
            </a:extLst>
          </p:cNvPr>
          <p:cNvSpPr txBox="1">
            <a:spLocks/>
          </p:cNvSpPr>
          <p:nvPr/>
        </p:nvSpPr>
        <p:spPr>
          <a:xfrm>
            <a:off x="838200" y="1044574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hybrid parallelization with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B8D7AF-BF8A-1936-CFF9-50B24209461F}"/>
              </a:ext>
            </a:extLst>
          </p:cNvPr>
          <p:cNvSpPr txBox="1">
            <a:spLocks/>
          </p:cNvSpPr>
          <p:nvPr/>
        </p:nvSpPr>
        <p:spPr>
          <a:xfrm>
            <a:off x="838200" y="1416423"/>
            <a:ext cx="10515601" cy="4796491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IO awareness</a:t>
            </a:r>
          </a:p>
          <a:p>
            <a:pPr lvl="1"/>
            <a:r>
              <a:rPr lang="en-US" dirty="0"/>
              <a:t>Overlapping preprocessing</a:t>
            </a:r>
          </a:p>
          <a:p>
            <a:pPr lvl="1"/>
            <a:r>
              <a:rPr lang="en-US" dirty="0"/>
              <a:t>Prefetching data pipelines</a:t>
            </a:r>
          </a:p>
          <a:p>
            <a:pPr lvl="1"/>
            <a:r>
              <a:rPr lang="en-US" dirty="0"/>
              <a:t>Caching </a:t>
            </a:r>
          </a:p>
          <a:p>
            <a:r>
              <a:rPr lang="en-US" dirty="0"/>
              <a:t>Network awareness</a:t>
            </a:r>
          </a:p>
          <a:p>
            <a:pPr lvl="1"/>
            <a:r>
              <a:rPr lang="en-US" dirty="0"/>
              <a:t>Device placement</a:t>
            </a:r>
          </a:p>
          <a:p>
            <a:pPr lvl="1"/>
            <a:r>
              <a:rPr lang="en-US" dirty="0"/>
              <a:t>Topology awareness</a:t>
            </a:r>
          </a:p>
          <a:p>
            <a:pPr lvl="1"/>
            <a:r>
              <a:rPr lang="en-US" dirty="0"/>
              <a:t>Network contention aware</a:t>
            </a:r>
          </a:p>
          <a:p>
            <a:r>
              <a:rPr lang="en-US" dirty="0"/>
              <a:t>Multi job scheduling</a:t>
            </a:r>
          </a:p>
          <a:p>
            <a:pPr lvl="1"/>
            <a:r>
              <a:rPr lang="en-US" dirty="0"/>
              <a:t>Inter job contention</a:t>
            </a:r>
          </a:p>
          <a:p>
            <a:pPr lvl="1"/>
            <a:r>
              <a:rPr lang="en-US" dirty="0"/>
              <a:t>Resource allocation</a:t>
            </a:r>
          </a:p>
          <a:p>
            <a:pPr lvl="1"/>
            <a:r>
              <a:rPr lang="en-US" dirty="0"/>
              <a:t>Cluster scheduling</a:t>
            </a: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0CE9221-3EFC-C1EC-E1F2-D0AF98F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52524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CCCB-9904-2F2E-B862-2E206AA22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E2020-037D-EF2E-09FD-B4B9D810A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64CDF-7C45-50B2-E3EE-E44390D2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C7DC5B2-2888-203E-FEA5-B9AD2AE8CCAF}"/>
              </a:ext>
            </a:extLst>
          </p:cNvPr>
          <p:cNvSpPr txBox="1">
            <a:spLocks/>
          </p:cNvSpPr>
          <p:nvPr/>
        </p:nvSpPr>
        <p:spPr>
          <a:xfrm>
            <a:off x="838200" y="1044574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IO-awareness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96D73E-DE3C-5EFA-0839-59C5CD8AFE2F}"/>
              </a:ext>
            </a:extLst>
          </p:cNvPr>
          <p:cNvSpPr txBox="1">
            <a:spLocks/>
          </p:cNvSpPr>
          <p:nvPr/>
        </p:nvSpPr>
        <p:spPr>
          <a:xfrm>
            <a:off x="838200" y="1321281"/>
            <a:ext cx="10515601" cy="47964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r>
              <a:rPr lang="en-US" dirty="0"/>
              <a:t>DNNs spend up to 65% of the epoch time in data pre-processing,  primarily on redundant decoding </a:t>
            </a:r>
            <a:r>
              <a:rPr lang="en-US" sz="1600" dirty="0"/>
              <a:t>(Analyzing and Mitigating Data Stalls in DNN Training, 2021)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8153025-5376-0734-9EEC-7D14843F9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14700" y="6443850"/>
            <a:ext cx="5562600" cy="277625"/>
          </a:xfrm>
        </p:spPr>
        <p:txBody>
          <a:bodyPr/>
          <a:lstStyle/>
          <a:p>
            <a:r>
              <a:rPr lang="en-US" dirty="0"/>
              <a:t>Adaptive cache pre-forwarding policy for distributed deep learning, 2020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7F868-6A62-0954-5FEB-B47408427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933" y="2847293"/>
            <a:ext cx="6062133" cy="3552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116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9A3DB-8437-CFC7-C582-5753D061A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B31FF-5B90-15B1-0BC0-757EBB60C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E3980-6522-0628-E383-847BE0F20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31E5A4-8CDC-104F-F5A2-605FF8971875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MegaScale</a:t>
            </a:r>
            <a:r>
              <a:rPr lang="en-US" dirty="0">
                <a:solidFill>
                  <a:srgbClr val="FFFF00"/>
                </a:solidFill>
              </a:rPr>
              <a:t>-Data: Scaling </a:t>
            </a:r>
            <a:r>
              <a:rPr lang="en-US" dirty="0" err="1">
                <a:solidFill>
                  <a:srgbClr val="FFFF00"/>
                </a:solidFill>
              </a:rPr>
              <a:t>Dataloader</a:t>
            </a:r>
            <a:r>
              <a:rPr lang="en-US" dirty="0">
                <a:solidFill>
                  <a:srgbClr val="FFFF00"/>
                </a:solidFill>
              </a:rPr>
              <a:t> for Multisource Large Foundation Model Training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 2026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36A690F-6217-5B62-FA35-6A79B655D17A}"/>
              </a:ext>
            </a:extLst>
          </p:cNvPr>
          <p:cNvSpPr txBox="1">
            <a:spLocks/>
          </p:cNvSpPr>
          <p:nvPr/>
        </p:nvSpPr>
        <p:spPr>
          <a:xfrm>
            <a:off x="838200" y="2506662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Previous works does not consider IO-aware hybrid parallelism</a:t>
            </a:r>
          </a:p>
          <a:p>
            <a:r>
              <a:rPr lang="en-IR" dirty="0"/>
              <a:t>Supports 4D parallelism (combines Pipeline, Data, Context, and Tensor Parallelism)</a:t>
            </a:r>
            <a:endParaRPr lang="en-US" dirty="0"/>
          </a:p>
          <a:p>
            <a:r>
              <a:rPr lang="en-US" dirty="0"/>
              <a:t>Also supports </a:t>
            </a:r>
          </a:p>
          <a:p>
            <a:pPr lvl="1"/>
            <a:r>
              <a:rPr lang="en-IR" dirty="0"/>
              <a:t>Data Preprocessing &amp; Transformations</a:t>
            </a:r>
          </a:p>
          <a:p>
            <a:pPr lvl="1"/>
            <a:r>
              <a:rPr lang="en-IR" dirty="0"/>
              <a:t>Declarative Data Pipeline &amp; Orchestration</a:t>
            </a:r>
          </a:p>
          <a:p>
            <a:pPr lvl="1"/>
            <a:r>
              <a:rPr lang="en-IR" dirty="0"/>
              <a:t>Background Loading and Prefetch Buffers</a:t>
            </a:r>
          </a:p>
          <a:p>
            <a:pPr lvl="1"/>
            <a:r>
              <a:rPr lang="en-IR" dirty="0"/>
              <a:t>Adaptive Scaling &amp; Resource Management</a:t>
            </a:r>
          </a:p>
          <a:p>
            <a:pPr lvl="1"/>
            <a:r>
              <a:rPr lang="en-IR" dirty="0"/>
              <a:t>Fault Tolerance &amp; Resiliency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42FF6F8-A083-F427-3962-D10BC30AF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75476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DC42F-4C01-49BC-9E25-D2C528342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7F3A32-7B32-EE97-C759-69FC7D9A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C623E-5486-DB62-C402-3C06231E0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E6C6902-15BD-05F5-A5CE-835C0E708E48}"/>
              </a:ext>
            </a:extLst>
          </p:cNvPr>
          <p:cNvSpPr txBox="1">
            <a:spLocks/>
          </p:cNvSpPr>
          <p:nvPr/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FFFF00"/>
                </a:solidFill>
              </a:rPr>
              <a:t>MegaScale</a:t>
            </a:r>
            <a:r>
              <a:rPr lang="en-US" dirty="0">
                <a:solidFill>
                  <a:srgbClr val="FFFF00"/>
                </a:solidFill>
              </a:rPr>
              <a:t>-Data: Scaling </a:t>
            </a:r>
            <a:r>
              <a:rPr lang="en-US" dirty="0" err="1">
                <a:solidFill>
                  <a:srgbClr val="FFFF00"/>
                </a:solidFill>
              </a:rPr>
              <a:t>Dataloader</a:t>
            </a:r>
            <a:r>
              <a:rPr lang="en-US" dirty="0">
                <a:solidFill>
                  <a:srgbClr val="FFFF00"/>
                </a:solidFill>
              </a:rPr>
              <a:t> for Multisource Large Foundation Model Training 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  <a:ea typeface="+mn-ea"/>
                <a:cs typeface="+mn-cs"/>
              </a:rPr>
              <a:t> 2026 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64CC147-6A26-B184-AB57-37260F516C2C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745133" cy="398621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Results compared with:</a:t>
            </a:r>
          </a:p>
          <a:p>
            <a:pPr lvl="1"/>
            <a:r>
              <a:rPr lang="en-IR" dirty="0"/>
              <a:t>Without the Data Constructor (Direct-Transfer Baseline)</a:t>
            </a:r>
          </a:p>
          <a:p>
            <a:pPr lvl="1"/>
            <a:r>
              <a:rPr lang="en-IR" dirty="0"/>
              <a:t>Without Data Orchestration (Vanilla Baseline)</a:t>
            </a:r>
          </a:p>
          <a:p>
            <a:pPr lvl="1"/>
            <a:r>
              <a:rPr lang="en-IR" dirty="0"/>
              <a:t>Without Disaggregated Preprocessing (Standard Dataloaders)</a:t>
            </a:r>
          </a:p>
          <a:p>
            <a:pPr lvl="1"/>
            <a:r>
              <a:rPr lang="en-IR" dirty="0"/>
              <a:t>Data Fetching and Prefetching</a:t>
            </a:r>
          </a:p>
          <a:p>
            <a:r>
              <a:rPr lang="en-US" dirty="0"/>
              <a:t>I</a:t>
            </a:r>
            <a:r>
              <a:rPr lang="en-IR" dirty="0"/>
              <a:t>mprovements</a:t>
            </a:r>
          </a:p>
          <a:p>
            <a:pPr lvl="1"/>
            <a:r>
              <a:rPr lang="en-IR" dirty="0"/>
              <a:t>Massive Throughput and Speed Improvements</a:t>
            </a:r>
          </a:p>
          <a:p>
            <a:pPr lvl="1"/>
            <a:r>
              <a:rPr lang="en-IR" dirty="0"/>
              <a:t>Drastic Memory Reduction</a:t>
            </a:r>
          </a:p>
          <a:p>
            <a:pPr lvl="1"/>
            <a:r>
              <a:rPr lang="en-IR" dirty="0"/>
              <a:t>Performance Under Complexity (Context &amp; Model Size)</a:t>
            </a:r>
          </a:p>
          <a:p>
            <a:pPr lvl="1"/>
            <a:r>
              <a:rPr lang="en-IR" dirty="0"/>
              <a:t>Extreme Scalability and Fault Tolerance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9831ED46-0C53-37C8-6838-D3F2C4361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85685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C3AF-504C-3D93-B8E9-F963435A0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5B7CB-6F5C-D51D-FA73-3F175B131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22A3D-1C1C-0B08-B036-6B38F2F3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D0D160-8354-BFA9-DC37-8AD69BEF08A2}"/>
              </a:ext>
            </a:extLst>
          </p:cNvPr>
          <p:cNvSpPr txBox="1">
            <a:spLocks/>
          </p:cNvSpPr>
          <p:nvPr/>
        </p:nvSpPr>
        <p:spPr>
          <a:xfrm>
            <a:off x="838199" y="501650"/>
            <a:ext cx="1035073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NEST: Network- and Memory-Aware Device Placement For Distributed Deep Learning</a:t>
            </a:r>
          </a:p>
          <a:p>
            <a:r>
              <a:rPr lang="en-IR" sz="1800" dirty="0"/>
              <a:t>Ninth Annual Conference on Machine Learning and Systems, MLSys 2026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23DADC8-6C6A-8412-6534-0BEA6322253C}"/>
              </a:ext>
            </a:extLst>
          </p:cNvPr>
          <p:cNvSpPr txBox="1">
            <a:spLocks/>
          </p:cNvSpPr>
          <p:nvPr/>
        </p:nvSpPr>
        <p:spPr>
          <a:xfrm>
            <a:off x="838200" y="2187574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Hierarchical non-uniformities make distributed training highly topology-dependent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Jointly reason about parallelism, memory, and network topology</a:t>
            </a:r>
          </a:p>
          <a:p>
            <a:r>
              <a:rPr lang="en-US" dirty="0"/>
              <a:t>Level-Wise Network Abstraction </a:t>
            </a:r>
          </a:p>
          <a:p>
            <a:r>
              <a:rPr lang="en-US" dirty="0"/>
              <a:t>Supports realistic datacenter topologies</a:t>
            </a:r>
          </a:p>
          <a:p>
            <a:r>
              <a:rPr lang="en-US" dirty="0"/>
              <a:t>Solution: operator graph + dynamic programming (with device placement)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AB4358D-8AE5-765F-9509-CB41C3F5A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75976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2581-EBD5-7166-F313-98C6291FA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9015CC-6501-18BD-D927-0FD0DE14E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8C51F-64AB-1486-033E-440B2664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4F9AC0C-0EED-B8A5-D5F5-BC8D9A52B32A}"/>
              </a:ext>
            </a:extLst>
          </p:cNvPr>
          <p:cNvSpPr txBox="1">
            <a:spLocks/>
          </p:cNvSpPr>
          <p:nvPr/>
        </p:nvSpPr>
        <p:spPr>
          <a:xfrm>
            <a:off x="838199" y="501650"/>
            <a:ext cx="1035073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NEST: Network- and Memory-Aware Device Placement For Distributed Deep Learning</a:t>
            </a:r>
          </a:p>
          <a:p>
            <a:r>
              <a:rPr lang="en-IR" sz="1800" dirty="0"/>
              <a:t>Ninth Annual Conference on Machine Learning and Systems, MLSys 2026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77296A1-FE77-2283-9F33-824D2F6DD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78728" y="6361141"/>
            <a:ext cx="6234544" cy="365125"/>
          </a:xfrm>
        </p:spPr>
        <p:txBody>
          <a:bodyPr/>
          <a:lstStyle/>
          <a:p>
            <a:r>
              <a:rPr lang="en-US" dirty="0"/>
              <a:t>NEST: Network- and Memory-Aware Device Placement For Distributed Deep Learning,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5DDB7A-9A6E-DBE6-5099-F034F7E6F2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3135" y="2068166"/>
            <a:ext cx="8445731" cy="429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709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6E0D-A1D9-4D16-C6B7-317C98ACC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CB2614-6417-8136-7669-CA4AF4A3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D9CD4-D218-3F3A-AABE-95E4A0051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DD03395-A37E-C6CA-EDAD-0A278CDEFAEE}"/>
              </a:ext>
            </a:extLst>
          </p:cNvPr>
          <p:cNvSpPr txBox="1">
            <a:spLocks/>
          </p:cNvSpPr>
          <p:nvPr/>
        </p:nvSpPr>
        <p:spPr>
          <a:xfrm>
            <a:off x="838199" y="501650"/>
            <a:ext cx="1035073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NEST: Network- and Memory-Aware Device Placement For Distributed Deep Learning</a:t>
            </a:r>
          </a:p>
          <a:p>
            <a:r>
              <a:rPr lang="en-IR" sz="1800" dirty="0"/>
              <a:t>Ninth Annual Conference on Machine Learning and Systems, MLSys 2026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749A3B9-FC87-D582-92B5-5D532B08A68A}"/>
              </a:ext>
            </a:extLst>
          </p:cNvPr>
          <p:cNvSpPr txBox="1">
            <a:spLocks/>
          </p:cNvSpPr>
          <p:nvPr/>
        </p:nvSpPr>
        <p:spPr>
          <a:xfrm>
            <a:off x="838200" y="2187574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Nest results:</a:t>
            </a:r>
          </a:p>
          <a:p>
            <a:r>
              <a:rPr lang="en-US" dirty="0"/>
              <a:t>Throughput improvements</a:t>
            </a:r>
          </a:p>
          <a:p>
            <a:r>
              <a:rPr lang="en-IR" dirty="0"/>
              <a:t>Finds optimal placements approximately faster</a:t>
            </a:r>
          </a:p>
          <a:p>
            <a:r>
              <a:rPr lang="en-IR" dirty="0"/>
              <a:t>Successfully identifies feasible placements under strict memory budgets (Avoids OOM)</a:t>
            </a:r>
          </a:p>
          <a:p>
            <a:endParaRPr lang="en-IR" dirty="0"/>
          </a:p>
          <a:p>
            <a:r>
              <a:rPr lang="en-IR" dirty="0"/>
              <a:t>Nest limitation:</a:t>
            </a:r>
          </a:p>
          <a:p>
            <a:r>
              <a:rPr lang="en-US" dirty="0"/>
              <a:t>O</a:t>
            </a:r>
            <a:r>
              <a:rPr lang="en-IR" dirty="0"/>
              <a:t>nly single job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57C9C15-14FA-3BD4-2A4E-03188B732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21134130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B0E91-E084-94DF-6E7D-B227CC3E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2431F-3A5C-59D6-A99C-1D4F9F524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7936D-081D-DA31-9029-92676F39B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E170DD4-552A-CD3C-5931-B9E706BE4EC9}"/>
              </a:ext>
            </a:extLst>
          </p:cNvPr>
          <p:cNvSpPr txBox="1">
            <a:spLocks/>
          </p:cNvSpPr>
          <p:nvPr/>
        </p:nvSpPr>
        <p:spPr>
          <a:xfrm>
            <a:off x="838199" y="501650"/>
            <a:ext cx="1035073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NEST: Network- and Memory-Aware Device Placement For Distributed Deep Learning</a:t>
            </a:r>
          </a:p>
          <a:p>
            <a:r>
              <a:rPr lang="en-IR" sz="1800" dirty="0"/>
              <a:t>Ninth Annual Conference on Machine Learning and Systems, MLSys 2026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6583FA2-0717-D3A6-0F82-76E5090A5C44}"/>
              </a:ext>
            </a:extLst>
          </p:cNvPr>
          <p:cNvSpPr txBox="1">
            <a:spLocks/>
          </p:cNvSpPr>
          <p:nvPr/>
        </p:nvSpPr>
        <p:spPr>
          <a:xfrm>
            <a:off x="838200" y="2187574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Nest results: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E81DFA10-ADE8-3C31-C867-AE9C2C35D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3098C-23F6-8517-14FF-719E174B6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15" y="2749361"/>
            <a:ext cx="9961098" cy="360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93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85C9A-FEBF-4724-024B-B897C0D2E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DECD7F-F1DC-6BED-4FD2-ECCEF772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7C4F7-EDD9-F01D-691F-99EC8562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5853FA-FD10-A0D5-7EA3-C9A2A4C03301}"/>
              </a:ext>
            </a:extLst>
          </p:cNvPr>
          <p:cNvSpPr txBox="1">
            <a:spLocks/>
          </p:cNvSpPr>
          <p:nvPr/>
        </p:nvSpPr>
        <p:spPr>
          <a:xfrm>
            <a:off x="1030458" y="1044574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ML jobs (have predictable traffic patterns)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67325C3-AC28-C5D5-95BD-2CD590A633C5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F6CF623-3D84-340D-FD75-3DE3C2767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66269" y="6356349"/>
            <a:ext cx="9059462" cy="365125"/>
          </a:xfrm>
        </p:spPr>
        <p:txBody>
          <a:bodyPr/>
          <a:lstStyle/>
          <a:p>
            <a:r>
              <a:rPr lang="en-US" dirty="0" err="1"/>
              <a:t>TopoOpt</a:t>
            </a:r>
            <a:r>
              <a:rPr lang="en-US" dirty="0"/>
              <a:t>: Co-optimizing Network Topology and Parallelization Strategy for Distributed Training Jobs, 2023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8876E37-FE87-A01A-0C01-53D44422BB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87" y="1931206"/>
            <a:ext cx="10358781" cy="435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47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3036-232E-688D-4D9B-68D0610C2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56D068-858D-5F71-674C-81F72BEAA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3EA73-3634-EB79-FC06-EFAF4FBD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F0AAD4-F917-8F0C-A7BB-7695C80C8C5E}"/>
              </a:ext>
            </a:extLst>
          </p:cNvPr>
          <p:cNvSpPr txBox="1">
            <a:spLocks/>
          </p:cNvSpPr>
          <p:nvPr/>
        </p:nvSpPr>
        <p:spPr>
          <a:xfrm>
            <a:off x="547255" y="501650"/>
            <a:ext cx="108065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Arena: Efficiently Training Large Models via Dynamic Scheduling and Adaptive Parallelism Co-Design 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 2026 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>
                <a:solidFill>
                  <a:srgbClr val="FFFF00"/>
                </a:solidFill>
              </a:rPr>
              <a:t>	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961295C-A389-DCEB-8716-CBB845859585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Previous works</a:t>
            </a:r>
          </a:p>
          <a:p>
            <a:pPr lvl="1"/>
            <a:r>
              <a:rPr lang="en-US" dirty="0"/>
              <a:t>Some only supports general ML jobs</a:t>
            </a:r>
          </a:p>
          <a:p>
            <a:pPr lvl="1"/>
            <a:r>
              <a:rPr lang="en-US" dirty="0"/>
              <a:t>Some support static parallelization profiles</a:t>
            </a:r>
          </a:p>
          <a:p>
            <a:r>
              <a:rPr lang="en-US" dirty="0"/>
              <a:t>Arena supports</a:t>
            </a:r>
          </a:p>
          <a:p>
            <a:pPr lvl="1"/>
            <a:r>
              <a:rPr lang="en-US" dirty="0"/>
              <a:t>Adaptive parallelization</a:t>
            </a:r>
          </a:p>
          <a:p>
            <a:pPr lvl="1"/>
            <a:r>
              <a:rPr lang="en-US" dirty="0"/>
              <a:t>joint scheduling-parallelism optimization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F6381D3-6736-405C-2A0A-B920DA9B4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8402510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C22F-5392-B691-9D4E-461BD5D86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60BEA7-CCAB-C472-FE15-8E4E77CB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2FE9B-9069-8D14-B735-A2859599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D0A70FA-A760-5045-ED8A-6B780D0E2D41}"/>
              </a:ext>
            </a:extLst>
          </p:cNvPr>
          <p:cNvSpPr txBox="1">
            <a:spLocks/>
          </p:cNvSpPr>
          <p:nvPr/>
        </p:nvSpPr>
        <p:spPr>
          <a:xfrm>
            <a:off x="547255" y="501650"/>
            <a:ext cx="108065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Arena: Efficiently Training Large Models via Dynamic Scheduling and Adaptive Parallelism Co-Design 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 2026 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DB36A57-7FE2-54AE-FE4D-10BB7C4DCF21}"/>
              </a:ext>
            </a:extLst>
          </p:cNvPr>
          <p:cNvSpPr txBox="1">
            <a:spLocks/>
          </p:cNvSpPr>
          <p:nvPr/>
        </p:nvSpPr>
        <p:spPr>
          <a:xfrm>
            <a:off x="838199" y="2370137"/>
            <a:ext cx="10152529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Arena workflow for each job</a:t>
            </a:r>
          </a:p>
          <a:p>
            <a:pPr lvl="1"/>
            <a:r>
              <a:rPr lang="en-US" dirty="0"/>
              <a:t>For different combinations of GPU numbers and pipeline parallelization degrees, guess the best plan (best </a:t>
            </a:r>
            <a:r>
              <a:rPr lang="en-US" dirty="0" err="1"/>
              <a:t>dp</a:t>
            </a:r>
            <a:r>
              <a:rPr lang="en-US" dirty="0"/>
              <a:t> and </a:t>
            </a:r>
            <a:r>
              <a:rPr lang="en-US" dirty="0" err="1"/>
              <a:t>mp</a:t>
            </a:r>
            <a:r>
              <a:rPr lang="en-US" dirty="0"/>
              <a:t> degree that suits)</a:t>
            </a:r>
          </a:p>
          <a:p>
            <a:pPr lvl="1"/>
            <a:r>
              <a:rPr lang="en-US" dirty="0"/>
              <a:t>Calculate the time using a single GPU computation and communication benchmarks</a:t>
            </a:r>
          </a:p>
          <a:p>
            <a:pPr lvl="1"/>
            <a:r>
              <a:rPr lang="en-IR" dirty="0"/>
              <a:t>Arena now has a menu of exactly how fast every job will run on any given number of GPUs.</a:t>
            </a:r>
            <a:endParaRPr lang="en-US" dirty="0"/>
          </a:p>
          <a:p>
            <a:pPr lvl="1"/>
            <a:r>
              <a:rPr lang="en-US" dirty="0"/>
              <a:t>Allocate resources based on these profiled information and jobs deadline</a:t>
            </a:r>
          </a:p>
          <a:p>
            <a:pPr lvl="1"/>
            <a:r>
              <a:rPr lang="en-US" dirty="0"/>
              <a:t>Can change the number or the version of the GPUs</a:t>
            </a:r>
          </a:p>
          <a:p>
            <a:pPr lvl="1"/>
            <a:r>
              <a:rPr lang="en-US" dirty="0"/>
              <a:t>Train each job on its allocated resources based on their plan</a:t>
            </a:r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80498358-BEF1-3381-6A47-FC80F2661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74517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B4374-5EDA-1F47-521F-B4AB72BAB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DEF9A-7C43-8E6F-C0F7-5E9EDABC7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E62AB-FEC5-1E3B-A33F-8D063463B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36793B-BBC0-FB5D-DD18-543D8F253898}"/>
              </a:ext>
            </a:extLst>
          </p:cNvPr>
          <p:cNvSpPr txBox="1">
            <a:spLocks/>
          </p:cNvSpPr>
          <p:nvPr/>
        </p:nvSpPr>
        <p:spPr>
          <a:xfrm>
            <a:off x="547255" y="501650"/>
            <a:ext cx="108065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Arena: Efficiently Training Large Models via Dynamic Scheduling and Adaptive Parallelism Co-Design 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 2026 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9546F36-0460-9BCC-C513-B575F47CB2BF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Results</a:t>
            </a:r>
          </a:p>
          <a:p>
            <a:pPr lvl="1"/>
            <a:r>
              <a:rPr lang="en-US" dirty="0"/>
              <a:t>Compared with SP profiling schedulers</a:t>
            </a:r>
          </a:p>
          <a:p>
            <a:pPr lvl="1"/>
            <a:r>
              <a:rPr lang="en-IR" dirty="0"/>
              <a:t>Real-World Clusters</a:t>
            </a:r>
            <a:endParaRPr lang="en-US" dirty="0"/>
          </a:p>
          <a:p>
            <a:pPr lvl="1"/>
            <a:r>
              <a:rPr lang="en-IR" dirty="0"/>
              <a:t>Reduced average JCT by 75.2% to 81.3% compared to the baselines and completed up to 1.45× more jobs</a:t>
            </a:r>
          </a:p>
          <a:p>
            <a:pPr lvl="1"/>
            <a:r>
              <a:rPr lang="en-IR" dirty="0"/>
              <a:t>In heavy-load environment, it achieved up to 1.55× higher average throughput</a:t>
            </a:r>
          </a:p>
          <a:p>
            <a:pPr lvl="1"/>
            <a:r>
              <a:rPr lang="en-IR" dirty="0"/>
              <a:t>improves the deadline satisfaction ratio by 1.69× over</a:t>
            </a: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BB9C564C-968A-A325-27F3-6749DF622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1931096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01A6-CABB-6F14-4701-ADC390328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5F11D2-20E4-0780-3712-4AE52085E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F1031-0D81-9D21-529C-7AAE53A2F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2D5DABE-F8CF-B3BD-6DAD-33B307B37E1D}"/>
              </a:ext>
            </a:extLst>
          </p:cNvPr>
          <p:cNvSpPr txBox="1">
            <a:spLocks/>
          </p:cNvSpPr>
          <p:nvPr/>
        </p:nvSpPr>
        <p:spPr>
          <a:xfrm>
            <a:off x="547255" y="501650"/>
            <a:ext cx="10806545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rgbClr val="FFFF00"/>
                </a:solidFill>
              </a:rPr>
              <a:t>Arena: Efficiently Training Large Models via Dynamic Scheduling and Adaptive Parallelism Co-Design </a:t>
            </a:r>
          </a:p>
          <a:p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Proceedings of the 21st European Conference on Computer Systems, </a:t>
            </a:r>
            <a:r>
              <a:rPr lang="en-US" sz="1800" dirty="0" err="1">
                <a:solidFill>
                  <a:prstClr val="white"/>
                </a:solidFill>
                <a:latin typeface="Calibri" panose="020F0502020204030204"/>
              </a:rPr>
              <a:t>EuroSys</a:t>
            </a:r>
            <a:r>
              <a:rPr lang="en-US" sz="1800" dirty="0">
                <a:solidFill>
                  <a:prstClr val="white"/>
                </a:solidFill>
                <a:latin typeface="Calibri" panose="020F0502020204030204"/>
              </a:rPr>
              <a:t> 2026 </a:t>
            </a:r>
            <a:endParaRPr lang="en-US" sz="1800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B26E18B-20FA-728A-B166-83F7C4C84701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Arena cons</a:t>
            </a:r>
          </a:p>
          <a:p>
            <a:pPr lvl="1"/>
            <a:r>
              <a:rPr lang="en-US" dirty="0"/>
              <a:t>Buddy allocation: </a:t>
            </a:r>
            <a:r>
              <a:rPr lang="en-IR" dirty="0"/>
              <a:t>GPUs assigned to a single job as physically close together as possible</a:t>
            </a:r>
          </a:p>
          <a:p>
            <a:pPr marL="457200" lvl="1" indent="0">
              <a:buNone/>
            </a:pPr>
            <a:endParaRPr lang="en-IR" dirty="0"/>
          </a:p>
          <a:p>
            <a:pPr lvl="1"/>
            <a:r>
              <a:rPr lang="en-IR" dirty="0"/>
              <a:t>Periodic Defragmentation As jobs start and finish, ensuring that jobs remain tightly grouped.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Does not consider network contention, </a:t>
            </a:r>
            <a:r>
              <a:rPr lang="en-IR" dirty="0"/>
              <a:t>Prevent Cross-Region Traffic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16DC0C92-6C55-5968-44C4-7D709258C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3472585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69587-98B4-C7A4-79B0-8DE0D3BE7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9F07AF-C680-7881-4AB0-065CD4DD1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B7A24-8827-7419-35B0-24349F30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E677F35-5696-82C0-F1EF-2F7C323FF899}"/>
              </a:ext>
            </a:extLst>
          </p:cNvPr>
          <p:cNvSpPr txBox="1">
            <a:spLocks/>
          </p:cNvSpPr>
          <p:nvPr/>
        </p:nvSpPr>
        <p:spPr>
          <a:xfrm>
            <a:off x="1030458" y="1044574"/>
            <a:ext cx="976884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Multi job scheduling + inter job contention</a:t>
            </a:r>
          </a:p>
          <a:p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E54A4D6-2169-041D-C211-AC26EE204273}"/>
              </a:ext>
            </a:extLst>
          </p:cNvPr>
          <p:cNvSpPr txBox="1">
            <a:spLocks/>
          </p:cNvSpPr>
          <p:nvPr/>
        </p:nvSpPr>
        <p:spPr>
          <a:xfrm>
            <a:off x="838200" y="2370137"/>
            <a:ext cx="9961098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4A15FFEE-9AB7-0F94-EF15-2D00ED79A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7681" y="6356350"/>
            <a:ext cx="5302135" cy="365125"/>
          </a:xfrm>
        </p:spPr>
        <p:txBody>
          <a:bodyPr/>
          <a:lstStyle/>
          <a:p>
            <a:r>
              <a:rPr lang="en-US" dirty="0"/>
              <a:t>CASSINI: Network-Aware Job Scheduling in Machine Learning Clusters, 2024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B6809BA-179B-348C-6C4A-58C6F0AE4F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013" y="1827266"/>
            <a:ext cx="9329730" cy="4412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96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625D-E9C2-0CF2-3F94-60575A33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8AC279-3242-09D3-FEAF-54A19C0F1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FF1D3-83B9-BA8E-8BF3-09535532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F352F7-7181-5748-57CE-E38A294494E0}"/>
              </a:ext>
            </a:extLst>
          </p:cNvPr>
          <p:cNvSpPr txBox="1">
            <a:spLocks/>
          </p:cNvSpPr>
          <p:nvPr/>
        </p:nvSpPr>
        <p:spPr>
          <a:xfrm>
            <a:off x="838199" y="501650"/>
            <a:ext cx="10350731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00"/>
                </a:solidFill>
              </a:rPr>
              <a:t>References </a:t>
            </a:r>
          </a:p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B204011-7443-E5AE-A444-271858E1E981}"/>
              </a:ext>
            </a:extLst>
          </p:cNvPr>
          <p:cNvSpPr txBox="1">
            <a:spLocks/>
          </p:cNvSpPr>
          <p:nvPr/>
        </p:nvSpPr>
        <p:spPr>
          <a:xfrm>
            <a:off x="838199" y="1309032"/>
            <a:ext cx="9991166" cy="521727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NEST: Network- and Memory-Aware Device Placement For Distributed Deep Learning, 2026</a:t>
            </a:r>
          </a:p>
          <a:p>
            <a:r>
              <a:rPr lang="en-US" dirty="0"/>
              <a:t>Adaptive cache pre-forwarding policy for distributed deep learning, 2020</a:t>
            </a:r>
          </a:p>
          <a:p>
            <a:r>
              <a:rPr lang="en-US" dirty="0"/>
              <a:t>Analyzing and mitigating data stalls in DNN training, 2021</a:t>
            </a:r>
          </a:p>
          <a:p>
            <a:r>
              <a:rPr lang="en-US" dirty="0"/>
              <a:t>CASSINI: Network-Aware Job Scheduling in Machine Learning Clusters, 2024</a:t>
            </a:r>
          </a:p>
          <a:p>
            <a:r>
              <a:rPr lang="en-US" dirty="0" err="1"/>
              <a:t>TopoOpt</a:t>
            </a:r>
            <a:r>
              <a:rPr lang="en-US" dirty="0"/>
              <a:t>: Co-optimizing Network Topology and Parallelization Strategy for Distributed Training Jobs, 2023</a:t>
            </a:r>
          </a:p>
          <a:p>
            <a:r>
              <a:rPr lang="en-US" dirty="0" err="1"/>
              <a:t>MegaScale</a:t>
            </a:r>
            <a:r>
              <a:rPr lang="en-US" dirty="0"/>
              <a:t>-Data: Scaling </a:t>
            </a:r>
            <a:r>
              <a:rPr lang="en-US" dirty="0" err="1"/>
              <a:t>Dataloader</a:t>
            </a:r>
            <a:r>
              <a:rPr lang="en-US" dirty="0"/>
              <a:t> for Multisource Large Foundation Model Training, 2026</a:t>
            </a:r>
          </a:p>
          <a:p>
            <a:r>
              <a:rPr lang="en-US" dirty="0"/>
              <a:t>Arena: Efficiently Training Large Models via Dynamic Scheduling and Adaptive Parallelism Co-Design, 2026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7DDE347D-A930-8D9C-B793-7D8BCB3C2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</p:spTree>
    <p:extLst>
      <p:ext uri="{BB962C8B-B14F-4D97-AF65-F5344CB8AC3E}">
        <p14:creationId xmlns:p14="http://schemas.microsoft.com/office/powerpoint/2010/main" val="1717682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96D10-43A9-6000-5BFB-8C47D01F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97D73C-A2B9-56F6-6DB8-CCD6F2A43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FE69-453B-4A96-AF23-060E27525C58}" type="datetime1">
              <a:rPr lang="en-US" smtClean="0"/>
              <a:t>6/11/26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42A62-E915-AB2E-F471-7B453C2BA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1705F3-4696-40A6-9A34-D433DE9A99A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1DB9C-06D8-B7F9-F022-C761EC2D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Alireza Karimi, ECE, 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2A65B-2725-9FD2-4171-36727BCBB8EB}"/>
              </a:ext>
            </a:extLst>
          </p:cNvPr>
          <p:cNvSpPr/>
          <p:nvPr/>
        </p:nvSpPr>
        <p:spPr>
          <a:xfrm>
            <a:off x="4521530" y="2967335"/>
            <a:ext cx="31489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786778808"/>
      </p:ext>
    </p:extLst>
  </p:cSld>
  <p:clrMapOvr>
    <a:masterClrMapping/>
  </p:clrMapOvr>
</p:sld>
</file>

<file path=ppt/theme/theme1.xml><?xml version="1.0" encoding="utf-8"?>
<a:theme xmlns:a="http://schemas.openxmlformats.org/drawingml/2006/main" name="BUT-Slide-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0563C1"/>
      </a:accent3>
      <a:accent4>
        <a:srgbClr val="C55A11"/>
      </a:accent4>
      <a:accent5>
        <a:srgbClr val="4472C4"/>
      </a:accent5>
      <a:accent6>
        <a:srgbClr val="ED7D31"/>
      </a:accent6>
      <a:hlink>
        <a:srgbClr val="F4A90C"/>
      </a:hlink>
      <a:folHlink>
        <a:srgbClr val="4A273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T-Slide-theme" id="{028800E7-4E94-45F7-BC13-E41A32E1898E}" vid="{430FA34B-EB45-4A76-A4B0-A571496D94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BUT-Slide-theme</Template>
  <TotalTime>10104</TotalTime>
  <Words>1028</Words>
  <Application>Microsoft Macintosh PowerPoint</Application>
  <PresentationFormat>Widescreen</PresentationFormat>
  <Paragraphs>177</Paragraphs>
  <Slides>17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BUT-Slide-theme</vt:lpstr>
      <vt:lpstr>On Improving Efficiency of Distributed Deep Learning Training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Contracts and Developing DApps on on Ethereum</dc:title>
  <dc:creator>Windows User</dc:creator>
  <cp:lastModifiedBy>Microsoft Office User</cp:lastModifiedBy>
  <cp:revision>237</cp:revision>
  <dcterms:created xsi:type="dcterms:W3CDTF">2019-01-29T11:09:45Z</dcterms:created>
  <dcterms:modified xsi:type="dcterms:W3CDTF">2026-06-12T09:39:35Z</dcterms:modified>
</cp:coreProperties>
</file>