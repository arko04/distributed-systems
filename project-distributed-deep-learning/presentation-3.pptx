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34"/>
  </p:notesMasterIdLst>
  <p:handoutMasterIdLst>
    <p:handoutMasterId r:id="rId35"/>
  </p:handoutMasterIdLst>
  <p:sldIdLst>
    <p:sldId id="256" r:id="rId2"/>
    <p:sldId id="304" r:id="rId3"/>
    <p:sldId id="339" r:id="rId4"/>
    <p:sldId id="305" r:id="rId5"/>
    <p:sldId id="340" r:id="rId6"/>
    <p:sldId id="341" r:id="rId7"/>
    <p:sldId id="330" r:id="rId8"/>
    <p:sldId id="342" r:id="rId9"/>
    <p:sldId id="290" r:id="rId10"/>
    <p:sldId id="343" r:id="rId11"/>
    <p:sldId id="292" r:id="rId12"/>
    <p:sldId id="358" r:id="rId13"/>
    <p:sldId id="344" r:id="rId14"/>
    <p:sldId id="307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60" r:id="rId29"/>
    <p:sldId id="359" r:id="rId30"/>
    <p:sldId id="308" r:id="rId31"/>
    <p:sldId id="337" r:id="rId32"/>
    <p:sldId id="336" r:id="rId3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0F46AB6-09C4-B440-B91E-6EC232AACDF7}">
          <p14:sldIdLst>
            <p14:sldId id="256"/>
            <p14:sldId id="304"/>
            <p14:sldId id="339"/>
            <p14:sldId id="305"/>
            <p14:sldId id="340"/>
            <p14:sldId id="341"/>
            <p14:sldId id="330"/>
            <p14:sldId id="342"/>
            <p14:sldId id="290"/>
            <p14:sldId id="343"/>
            <p14:sldId id="292"/>
            <p14:sldId id="358"/>
            <p14:sldId id="344"/>
            <p14:sldId id="307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60"/>
            <p14:sldId id="359"/>
            <p14:sldId id="308"/>
            <p14:sldId id="337"/>
            <p14:sldId id="3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216"/>
    <p:restoredTop sz="94737"/>
  </p:normalViewPr>
  <p:slideViewPr>
    <p:cSldViewPr>
      <p:cViewPr>
        <p:scale>
          <a:sx n="109" d="100"/>
          <a:sy n="109" d="100"/>
        </p:scale>
        <p:origin x="-64" y="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448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31T00:22:59.535" idx="1">
    <p:pos x="10" y="10"/>
    <p:text>Add the name of the first writer</p:text>
    <p:extLst>
      <p:ext uri="{C676402C-5697-4E1C-873F-D02D1690AC5C}">
        <p15:threadingInfo xmlns:p15="http://schemas.microsoft.com/office/powerpoint/2012/main" timeZoneBias="-210"/>
      </p:ext>
    </p:extLst>
  </p:cm>
  <p:cm authorId="1" dt="2026-07-31T00:23:26.146" idx="2">
    <p:pos x="106" y="106"/>
    <p:text>Better picture should be</p:text>
    <p:extLst>
      <p:ext uri="{C676402C-5697-4E1C-873F-D02D1690AC5C}">
        <p15:threadingInfo xmlns:p15="http://schemas.microsoft.com/office/powerpoint/2012/main" timeZoneBias="-21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4CAA0-44A1-4D40-A467-1026E3626641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151BC-E257-4E7B-ACCC-5BE5550D2A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464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AE210BC-ECDC-4C50-9E7D-895EA1A07AD3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C4CA39B-6811-4A09-B2EF-CF371A139D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lide Number Placeholder 2"/>
          <p:cNvSpPr txBox="1">
            <a:spLocks/>
          </p:cNvSpPr>
          <p:nvPr/>
        </p:nvSpPr>
        <p:spPr>
          <a:xfrm>
            <a:off x="228600" y="9144000"/>
            <a:ext cx="457200" cy="457200"/>
          </a:xfrm>
          <a:prstGeom prst="ellipse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784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76FBE-58CA-438F-A6DB-3322263ECFD5}" type="datetime1">
              <a:rPr lang="en-US" smtClean="0"/>
              <a:pPr/>
              <a:t>8/5/26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62B3-D0CE-4577-91B6-4E6EE48DB6CD}" type="datetime1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388D0-B408-4B10-B37A-3F71A2746CB1}" type="datetime1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764F-BEC2-4E6D-9906-EC31044D4B52}" type="datetime1">
              <a:rPr lang="en-US" smtClean="0"/>
              <a:pPr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B97A-FC40-4EC6-8C5D-1DEE687F844F}" type="datetime1">
              <a:rPr lang="en-US" smtClean="0"/>
              <a:pPr/>
              <a:t>8/5/26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D707-1E0D-41A5-A2A9-A1A72EF52D8D}" type="datetime1">
              <a:rPr lang="en-US" smtClean="0"/>
              <a:pPr/>
              <a:t>8/5/26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627-038C-47A6-830E-A3BE5E6D3C39}" type="datetime1">
              <a:rPr lang="en-US" smtClean="0"/>
              <a:pPr/>
              <a:t>8/5/26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D7382-7EFB-4D47-8682-F695F6A7A2DB}" type="datetime1">
              <a:rPr lang="en-US" smtClean="0"/>
              <a:pPr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785C6-1897-4ADC-AFE2-C9D663CD1808}" type="datetime1">
              <a:rPr lang="en-US" smtClean="0"/>
              <a:pPr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9164-FDFC-4B13-8026-D184F725BB3D}" type="datetime1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CE4E-93C5-4D78-ADA8-970C294EB2A2}" type="datetime1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5B29CCD-B764-499B-ACDE-2C081D461DD3}" type="datetime1">
              <a:rPr lang="en-US" smtClean="0"/>
              <a:pPr/>
              <a:t>8/5/26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mailto:karimialireza2004@ut.ac.ir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10000"/>
            <a:ext cx="7162800" cy="1600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Alireza Karimi &amp; Taha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Majlesi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Department of Electrical and Computer Engineering,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University of Tehran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Distributed Deep Learning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6200" y="102476"/>
            <a:ext cx="990600" cy="888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Overview of what we achieved</a:t>
            </a:r>
          </a:p>
          <a:p>
            <a:r>
              <a:rPr lang="en-US" dirty="0"/>
              <a:t>Formulation</a:t>
            </a:r>
          </a:p>
          <a:p>
            <a:r>
              <a:rPr lang="en-US" dirty="0"/>
              <a:t>MILP using SCIP solver</a:t>
            </a:r>
          </a:p>
          <a:p>
            <a:r>
              <a:rPr lang="en-US" dirty="0"/>
              <a:t>Heuristics</a:t>
            </a:r>
          </a:p>
          <a:p>
            <a:r>
              <a:rPr lang="en-US" dirty="0"/>
              <a:t>Evaluations</a:t>
            </a:r>
          </a:p>
          <a:p>
            <a:pPr lvl="1"/>
            <a:r>
              <a:rPr lang="en-US" dirty="0"/>
              <a:t>Baselines </a:t>
            </a:r>
          </a:p>
          <a:p>
            <a:pPr lvl="1"/>
            <a:r>
              <a:rPr lang="en-US" dirty="0"/>
              <a:t>Ablations</a:t>
            </a:r>
          </a:p>
          <a:p>
            <a:r>
              <a:rPr lang="en-US" dirty="0"/>
              <a:t>Conclusion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09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EDB59-4407-5C3D-B080-10A5A5370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1D05C-A8B1-5CDA-CA8C-6C5832403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A8ACA0-3533-8FE1-702F-E5575AAFB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7ADA-1A02-662C-7E82-214A1928E77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Overview of what we achieved</a:t>
            </a:r>
          </a:p>
          <a:p>
            <a:r>
              <a:rPr lang="en-US" dirty="0"/>
              <a:t>Formulation</a:t>
            </a:r>
          </a:p>
          <a:p>
            <a:r>
              <a:rPr lang="en-US" dirty="0"/>
              <a:t>MILP using SCIP solver</a:t>
            </a:r>
          </a:p>
          <a:p>
            <a:r>
              <a:rPr lang="en-US" dirty="0"/>
              <a:t>Heuristics</a:t>
            </a:r>
          </a:p>
          <a:p>
            <a:r>
              <a:rPr lang="en-US" dirty="0"/>
              <a:t>Evaluations</a:t>
            </a:r>
          </a:p>
          <a:p>
            <a:pPr lvl="1"/>
            <a:r>
              <a:rPr lang="en-US" dirty="0"/>
              <a:t>Baselines </a:t>
            </a:r>
          </a:p>
          <a:p>
            <a:pPr lvl="1"/>
            <a:r>
              <a:rPr lang="en-US" dirty="0"/>
              <a:t>Ablations</a:t>
            </a:r>
          </a:p>
          <a:p>
            <a:r>
              <a:rPr lang="en-US" dirty="0"/>
              <a:t>Conclusion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848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274320" lvl="2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Distributed deep learning training</a:t>
            </a:r>
          </a:p>
          <a:p>
            <a:pPr marL="274320" lvl="2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Hybrid parallelization</a:t>
            </a:r>
          </a:p>
          <a:p>
            <a:pPr marL="54864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Data and model parallel</a:t>
            </a:r>
          </a:p>
          <a:p>
            <a:pPr marL="54864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Fixed vs adaptive hybrid parallel input </a:t>
            </a:r>
          </a:p>
          <a:p>
            <a:r>
              <a:rPr lang="en-US" sz="2600" dirty="0">
                <a:cs typeface="B Koodak" panose="00000700000000000000" pitchFamily="2" charset="-78"/>
              </a:rPr>
              <a:t>Multi-job and cluster scheduling</a:t>
            </a:r>
          </a:p>
          <a:p>
            <a:pPr marL="274320" lvl="2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Consider topology-dependency</a:t>
            </a:r>
          </a:p>
          <a:p>
            <a:pPr marL="54864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Network aware</a:t>
            </a:r>
          </a:p>
          <a:p>
            <a:pPr marL="54864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Placement aware</a:t>
            </a:r>
          </a:p>
          <a:p>
            <a:pPr marL="54864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Topology aware</a:t>
            </a:r>
          </a:p>
          <a:p>
            <a:pPr marL="274320" lvl="2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Prefetching of input training data</a:t>
            </a:r>
          </a:p>
        </p:txBody>
      </p:sp>
    </p:spTree>
    <p:extLst>
      <p:ext uri="{BB962C8B-B14F-4D97-AF65-F5344CB8AC3E}">
        <p14:creationId xmlns:p14="http://schemas.microsoft.com/office/powerpoint/2010/main" val="274474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D9E9-DF65-92D2-C676-FC735D3C5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16C64-02BA-7171-950B-8C2DE9C05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work’s features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691CDC-3DCA-20F9-7650-D5CDD922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5AEF5-173D-9394-4CEB-DDAEB113FC6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274320" lvl="2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Multi-objective system</a:t>
            </a:r>
          </a:p>
          <a:p>
            <a:pPr marL="54864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Lateness</a:t>
            </a:r>
          </a:p>
          <a:p>
            <a:pPr marL="54864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Overall </a:t>
            </a:r>
            <a:r>
              <a:rPr lang="en-US" sz="2600" dirty="0" err="1">
                <a:cs typeface="B Koodak" panose="00000700000000000000" pitchFamily="2" charset="-78"/>
              </a:rPr>
              <a:t>makespan</a:t>
            </a:r>
            <a:endParaRPr lang="en-US" sz="2600" dirty="0">
              <a:cs typeface="B Koodak" panose="00000700000000000000" pitchFamily="2" charset="-78"/>
            </a:endParaRPr>
          </a:p>
          <a:p>
            <a:pPr marL="54864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Job completion time</a:t>
            </a:r>
          </a:p>
          <a:p>
            <a:pPr marL="54864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GPU utilization</a:t>
            </a:r>
          </a:p>
          <a:p>
            <a:pPr marL="54864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VRAM peak memory usage</a:t>
            </a:r>
          </a:p>
          <a:p>
            <a:pPr marL="274320" lvl="2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Modeling delays in network</a:t>
            </a:r>
          </a:p>
          <a:p>
            <a:pPr marL="54864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Transition delay</a:t>
            </a:r>
          </a:p>
          <a:p>
            <a:pPr marL="54864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Propagation delay (hop by hop)</a:t>
            </a:r>
          </a:p>
          <a:p>
            <a:pPr marL="274320" lvl="2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Hierarchical topology of datacenters (fat-tree)</a:t>
            </a:r>
          </a:p>
          <a:p>
            <a:pPr marL="274320" lvl="2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600" dirty="0">
                <a:cs typeface="B Koodak" panose="00000700000000000000" pitchFamily="2" charset="-78"/>
              </a:rPr>
              <a:t>Converged (shared) network</a:t>
            </a:r>
          </a:p>
          <a:p>
            <a:pPr marL="0" lvl="2" indent="0">
              <a:spcBef>
                <a:spcPts val="580"/>
              </a:spcBef>
              <a:buClr>
                <a:schemeClr val="accent1"/>
              </a:buClr>
              <a:buNone/>
            </a:pPr>
            <a:endParaRPr lang="en-US" sz="2600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88870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9920D-6C6B-4257-3AC1-BDE21957C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9F730-D36B-3B70-824C-20BEB35FF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7B40D-3A0C-8120-14FB-B56311A1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C1655-CEE6-99A7-273D-60B496372D4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Overview of what we achieved</a:t>
            </a:r>
          </a:p>
          <a:p>
            <a:r>
              <a:rPr lang="en-US" dirty="0">
                <a:solidFill>
                  <a:srgbClr val="FF0000"/>
                </a:solidFill>
              </a:rPr>
              <a:t>Formulation</a:t>
            </a:r>
          </a:p>
          <a:p>
            <a:r>
              <a:rPr lang="en-US" dirty="0"/>
              <a:t>MILP using SCIP solver</a:t>
            </a:r>
          </a:p>
          <a:p>
            <a:r>
              <a:rPr lang="en-US" dirty="0"/>
              <a:t>Heuristics</a:t>
            </a:r>
          </a:p>
          <a:p>
            <a:r>
              <a:rPr lang="en-US" dirty="0"/>
              <a:t>Evaluations</a:t>
            </a:r>
          </a:p>
          <a:p>
            <a:pPr lvl="1"/>
            <a:r>
              <a:rPr lang="en-US" dirty="0"/>
              <a:t>Baselines </a:t>
            </a:r>
          </a:p>
          <a:p>
            <a:pPr lvl="1"/>
            <a:r>
              <a:rPr lang="en-US" dirty="0"/>
              <a:t>Ablations</a:t>
            </a:r>
          </a:p>
          <a:p>
            <a:r>
              <a:rPr lang="en-US" dirty="0"/>
              <a:t>Conclusion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633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4495-78E2-AE5E-BB65-0BDEC596D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7B14-3106-D38F-0A82-E0302D8B3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71EE66-75BF-1347-85D3-56C7FF25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58EA9-D3AA-F7A0-1F7F-B779CCF392A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Model’s constraints</a:t>
            </a:r>
          </a:p>
          <a:p>
            <a:pPr lvl="1"/>
            <a:r>
              <a:rPr lang="en-US" dirty="0"/>
              <a:t>VRAMs</a:t>
            </a:r>
          </a:p>
          <a:p>
            <a:pPr lvl="1"/>
            <a:r>
              <a:rPr lang="en-US" dirty="0"/>
              <a:t>Bandwidth and links</a:t>
            </a:r>
          </a:p>
          <a:p>
            <a:pPr lvl="1"/>
            <a:r>
              <a:rPr lang="en-US" dirty="0"/>
              <a:t>GPUs</a:t>
            </a:r>
          </a:p>
          <a:p>
            <a:pPr lvl="1"/>
            <a:r>
              <a:rPr lang="en-US" dirty="0"/>
              <a:t>Micro-batches</a:t>
            </a:r>
          </a:p>
          <a:p>
            <a:r>
              <a:rPr lang="en-US" dirty="0"/>
              <a:t>Pruning constraints</a:t>
            </a:r>
          </a:p>
          <a:p>
            <a:pPr lvl="1"/>
            <a:r>
              <a:rPr lang="en-US" dirty="0"/>
              <a:t>Micro-batch ordering</a:t>
            </a:r>
          </a:p>
          <a:p>
            <a:pPr lvl="1"/>
            <a:r>
              <a:rPr lang="en-US" dirty="0"/>
              <a:t>Time bounding constraints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894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B01BD-4A0A-C785-0FB5-27126BE6D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3CBFD-A257-5512-5CDD-8D4C769F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0DF990-3D9A-FA2F-2029-7200E2998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86B04-5FC4-036F-63E2-E40A4CED168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Overview of what we achieved</a:t>
            </a:r>
          </a:p>
          <a:p>
            <a:r>
              <a:rPr lang="en-US" dirty="0"/>
              <a:t>Formulation</a:t>
            </a:r>
          </a:p>
          <a:p>
            <a:r>
              <a:rPr lang="en-US" dirty="0">
                <a:solidFill>
                  <a:srgbClr val="FF0000"/>
                </a:solidFill>
              </a:rPr>
              <a:t>MILP using SCIP solver</a:t>
            </a:r>
          </a:p>
          <a:p>
            <a:r>
              <a:rPr lang="en-US" dirty="0"/>
              <a:t>Heuristics</a:t>
            </a:r>
          </a:p>
          <a:p>
            <a:r>
              <a:rPr lang="en-US" dirty="0"/>
              <a:t>Evaluations</a:t>
            </a:r>
          </a:p>
          <a:p>
            <a:pPr lvl="1"/>
            <a:r>
              <a:rPr lang="en-US" dirty="0"/>
              <a:t>Baselines </a:t>
            </a:r>
          </a:p>
          <a:p>
            <a:pPr lvl="1"/>
            <a:r>
              <a:rPr lang="en-US" dirty="0"/>
              <a:t>Ablations</a:t>
            </a:r>
          </a:p>
          <a:p>
            <a:r>
              <a:rPr lang="en-US" dirty="0"/>
              <a:t>Conclusion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569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MILP and SCIP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MILP = mixed integer linear programming</a:t>
            </a:r>
          </a:p>
          <a:p>
            <a:r>
              <a:rPr lang="en-US" dirty="0"/>
              <a:t>SCIP solver and library</a:t>
            </a:r>
          </a:p>
          <a:p>
            <a:r>
              <a:rPr lang="en-US" dirty="0"/>
              <a:t>What we defined?</a:t>
            </a:r>
          </a:p>
          <a:p>
            <a:pPr lvl="1"/>
            <a:r>
              <a:rPr lang="en-US" dirty="0"/>
              <a:t>Indexes</a:t>
            </a:r>
          </a:p>
          <a:p>
            <a:pPr lvl="1"/>
            <a:r>
              <a:rPr lang="en-US" dirty="0"/>
              <a:t>Decision variables</a:t>
            </a:r>
          </a:p>
          <a:p>
            <a:pPr lvl="1"/>
            <a:r>
              <a:rPr lang="en-US" dirty="0"/>
              <a:t>Constraints</a:t>
            </a:r>
          </a:p>
          <a:p>
            <a:pPr lvl="1"/>
            <a:r>
              <a:rPr lang="en-US" dirty="0"/>
              <a:t>Pruning constrains</a:t>
            </a:r>
          </a:p>
          <a:p>
            <a:pPr lvl="1"/>
            <a:r>
              <a:rPr lang="en-US" dirty="0"/>
              <a:t>Objectives</a:t>
            </a:r>
          </a:p>
          <a:p>
            <a:r>
              <a:rPr lang="en-US" dirty="0"/>
              <a:t>Input</a:t>
            </a:r>
          </a:p>
          <a:p>
            <a:pPr lvl="1"/>
            <a:r>
              <a:rPr lang="en-US" dirty="0"/>
              <a:t>General system parameters</a:t>
            </a:r>
          </a:p>
          <a:p>
            <a:pPr lvl="1"/>
            <a:r>
              <a:rPr lang="en-US" dirty="0"/>
              <a:t>JSON configs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445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782E8-339B-C73F-3CD4-BD57B78EF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E154E-70F7-DD57-84F0-00D0B1366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BBD58C-A9DA-FA75-0C37-E0F82FE9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C5CCC-BC7C-3FB7-AD16-ECB0708405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Overview of what we achieved</a:t>
            </a:r>
          </a:p>
          <a:p>
            <a:r>
              <a:rPr lang="en-US" dirty="0"/>
              <a:t>Formulation</a:t>
            </a:r>
          </a:p>
          <a:p>
            <a:r>
              <a:rPr lang="en-US" dirty="0"/>
              <a:t>MILP using SCIP solver</a:t>
            </a:r>
          </a:p>
          <a:p>
            <a:r>
              <a:rPr lang="en-US" dirty="0">
                <a:solidFill>
                  <a:srgbClr val="FF0000"/>
                </a:solidFill>
              </a:rPr>
              <a:t>Heuristics</a:t>
            </a:r>
          </a:p>
          <a:p>
            <a:r>
              <a:rPr lang="en-US" dirty="0"/>
              <a:t>Evaluations</a:t>
            </a:r>
          </a:p>
          <a:p>
            <a:pPr lvl="1"/>
            <a:r>
              <a:rPr lang="en-US" dirty="0"/>
              <a:t>Baselines </a:t>
            </a:r>
          </a:p>
          <a:p>
            <a:pPr lvl="1"/>
            <a:r>
              <a:rPr lang="en-US" dirty="0"/>
              <a:t>Ablations</a:t>
            </a:r>
          </a:p>
          <a:p>
            <a:r>
              <a:rPr lang="en-US" dirty="0"/>
              <a:t>Conclusion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790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MILP can’t get big enough (takes time)</a:t>
            </a:r>
          </a:p>
          <a:p>
            <a:r>
              <a:rPr lang="en-US" dirty="0"/>
              <a:t>Heuristic will mimic most MILP answers </a:t>
            </a:r>
          </a:p>
          <a:p>
            <a:r>
              <a:rPr lang="en-US" dirty="0"/>
              <a:t>Faster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7E01F0-A6C0-7D05-34AF-4CD5F288F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2780120"/>
            <a:ext cx="7239000" cy="388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060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F8891-FB65-8431-9A17-05B71D349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R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81108F-2F03-236C-CC40-4016D218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1C0FE94-194A-9E80-6A4A-9B974AE4B2E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07045"/>
            <a:ext cx="7772400" cy="345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83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5875-20AA-53BB-4E83-2B141DFCB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5E84-B639-C5F6-9807-D1B475CF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56B62F-18B8-0DD4-B73F-3AB19369B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E3756-3EB4-0AE9-B85C-96572904B54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Overview of what we achieved</a:t>
            </a:r>
          </a:p>
          <a:p>
            <a:r>
              <a:rPr lang="en-US" dirty="0"/>
              <a:t>Formulation</a:t>
            </a:r>
          </a:p>
          <a:p>
            <a:r>
              <a:rPr lang="en-US" dirty="0"/>
              <a:t>MILP using SCIP solver</a:t>
            </a:r>
          </a:p>
          <a:p>
            <a:r>
              <a:rPr lang="en-US" dirty="0"/>
              <a:t>Heuristics</a:t>
            </a:r>
          </a:p>
          <a:p>
            <a:r>
              <a:rPr lang="en-US" dirty="0">
                <a:solidFill>
                  <a:srgbClr val="FF0000"/>
                </a:solidFill>
              </a:rPr>
              <a:t>Evaluations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Baselines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Ablations</a:t>
            </a:r>
          </a:p>
          <a:p>
            <a:r>
              <a:rPr lang="en-US" dirty="0"/>
              <a:t>Conclusion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439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Baselines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D1B6ED-EC18-A9C4-9313-47C1824513A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784350"/>
            <a:ext cx="76962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982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A35F8-7700-4041-89BA-3701E4146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A0A1-E814-739D-7822-8258DDFA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Prefetch ablations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E8DF0E-AD82-A616-1ADD-69FA2FE82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5290A88-BC68-8864-12CD-41742F98927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209" y="1447800"/>
            <a:ext cx="701278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78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E16E3-7A2D-0F89-DCDB-3301A584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F223-AF74-5680-22A3-8E9074EE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Different ablations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A78C21-A8DB-0CF2-7D22-5FCFFDAD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176B4A-1301-3FC9-FC75-57EAD77360E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338" y="1447800"/>
            <a:ext cx="717452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31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41DAC-6262-BB4E-657A-74CADA0F1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6F285-9A9E-8B82-1E42-AC1D51DB3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Different ablations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1EF3A4-F194-BD2E-7A66-0055EBBE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1888258-F441-0130-47BA-A7093044515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412" y="1447800"/>
            <a:ext cx="765437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75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C491C-2D84-0E11-6854-45F111B8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39DDB-51CD-745A-DFC3-384D91693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Placement ablations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EF56E1-A334-FE0C-CA79-6C6D9A79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0FC813-17AC-02B8-2A3D-10121F7ABEC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436" y="1447800"/>
            <a:ext cx="712032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05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C4433-0C45-14AC-F3FA-1EDFAC760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0F62-2C1A-F7E7-9D68-969845B5A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6. Deadline </a:t>
            </a:r>
            <a:r>
              <a:rPr lang="en-US" dirty="0" err="1"/>
              <a:t>met,makespan</a:t>
            </a:r>
            <a:r>
              <a:rPr lang="en-US" dirty="0"/>
              <a:t> and fairness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2D6239-E844-3746-0D1F-4ECA12C5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91EA47-0289-73E1-12E4-4C128EA18CF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43100"/>
            <a:ext cx="8627384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54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6DDED-369C-5D0C-2FD3-BC30FF864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ED75-C05A-B82D-B978-8DE53DE3D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JCT &amp; lateness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EF4086-5649-8317-4EE0-ED4E84D3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F43EE76-F07F-78C2-65E2-62A305DC14F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676400"/>
            <a:ext cx="75438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366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7EC8B-5B46-31B6-C430-2C6AE5F8F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49D40-8484-DC84-DAA2-AAFC56BCA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8. Different prefetching approaches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320A08-CEBE-0C66-0F9E-836702611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81F51F1-56C4-6185-7CFB-5C23D30C40E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078" y="1447800"/>
            <a:ext cx="674504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90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64C21-32C4-4902-D27B-4B1A164DD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CF8E3-DB04-19A2-BA81-83E8C1C7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9. Joint vs decomposed optimization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154935-5D73-5CF9-1530-1C23F1E1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606910-E930-8A9A-0DEC-12A705FF01A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01175"/>
            <a:ext cx="7772400" cy="386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495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CB88D-FC12-5466-51A3-F89217A3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A70C-A21A-E850-2D18-85EE47C5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DP vs PP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B824EE-F256-7201-C3DE-4CE34802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4C0DB70-0969-B121-C004-2E3D957B2D3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26589"/>
            <a:ext cx="7772400" cy="21328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5031A4-D32F-AC99-5F8D-119E036E3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85"/>
          <a:stretch>
            <a:fillRect/>
          </a:stretch>
        </p:blipFill>
        <p:spPr>
          <a:xfrm>
            <a:off x="678180" y="3459480"/>
            <a:ext cx="7475220" cy="329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722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B844D-F201-DED0-A6E1-811C65DE5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915E-4E76-B2E8-1EB1-B4F427C1F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11. Dispatch rule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F01787-5F55-5F7E-3317-4948F52F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D2CCB0-1C3F-3345-8B01-0A11110D6C4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298" y="1447800"/>
            <a:ext cx="672860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25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2CEC4-0B32-0959-3AC0-556FF7C4F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DAA3A-4446-8C5C-DE94-AD54B69F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VRAM peak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750746-514A-B1B9-0FA7-8EC7BAA1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1D8B8E-459F-3509-4BB0-3C3C59DBA58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50" y="1543050"/>
            <a:ext cx="75311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47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94ADD-9FA7-E61B-5D39-62BED45DC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585F0-6C41-96F6-DF21-254DCCC63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13. Top baselines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F6AFCE-3651-163A-FD0C-D2D5A0A76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DCBDFE0-6C7A-0726-47CF-AD9482D3738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33" y="1447800"/>
            <a:ext cx="737493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991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53760-EE37-A410-3E94-AC00D995C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B5E03-3144-3B77-C983-E7BF1FE19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 Top baselines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DA28E3-E30D-CB2B-E44D-32532C0B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C5AC5D8-27F2-51BF-E9BA-1352FB38CC5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39961"/>
            <a:ext cx="7772400" cy="338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93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00AF6-0F1F-33AB-F75D-12A9BA61B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B5C6-BE4C-9976-5557-98DA8AC2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C8F47B-2470-9629-56E5-525B5741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E375A-9B51-BCD8-C060-D78C3431D2C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Overview of what we achieved</a:t>
            </a:r>
          </a:p>
          <a:p>
            <a:r>
              <a:rPr lang="en-US" dirty="0"/>
              <a:t>Formulation</a:t>
            </a:r>
          </a:p>
          <a:p>
            <a:r>
              <a:rPr lang="en-US" dirty="0"/>
              <a:t>MILP using SCIP solver</a:t>
            </a:r>
          </a:p>
          <a:p>
            <a:r>
              <a:rPr lang="en-US" dirty="0"/>
              <a:t>Heuristics</a:t>
            </a:r>
          </a:p>
          <a:p>
            <a:r>
              <a:rPr lang="en-US" dirty="0"/>
              <a:t>Evaluations</a:t>
            </a:r>
          </a:p>
          <a:p>
            <a:pPr lvl="1"/>
            <a:r>
              <a:rPr lang="en-US" dirty="0"/>
              <a:t>Baselines </a:t>
            </a:r>
          </a:p>
          <a:p>
            <a:pPr lvl="1"/>
            <a:r>
              <a:rPr lang="en-US" dirty="0"/>
              <a:t>Ablations</a:t>
            </a:r>
          </a:p>
          <a:p>
            <a:r>
              <a:rPr lang="en-US" dirty="0">
                <a:solidFill>
                  <a:srgbClr val="FF0000"/>
                </a:solidFill>
              </a:rPr>
              <a:t>Conclusion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23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C57C5-C0E6-514E-1071-32D25A533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C838-906B-4845-C9EA-BBED3A62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1C0AF0-D497-11F1-F789-7F91270F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497201-CD54-26BE-1639-CDD403CA692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R" dirty="0"/>
              <a:t>Different jobs have different traffic and computation patterns</a:t>
            </a:r>
          </a:p>
          <a:p>
            <a:r>
              <a:rPr lang="en-IR" dirty="0"/>
              <a:t>Heterogeneous jobs can be overlapped</a:t>
            </a:r>
          </a:p>
          <a:p>
            <a:r>
              <a:rPr lang="en-IR" dirty="0"/>
              <a:t>Prefetching should be done at certain times to be effective</a:t>
            </a:r>
          </a:p>
          <a:p>
            <a:r>
              <a:rPr lang="en-IR" dirty="0"/>
              <a:t>Placement awareness is effective in reducing delays</a:t>
            </a:r>
          </a:p>
          <a:p>
            <a:r>
              <a:rPr lang="en-IR" dirty="0"/>
              <a:t>Joint optimization gets better results than decomposed one</a:t>
            </a:r>
          </a:p>
          <a:p>
            <a:r>
              <a:rPr lang="en-IR" dirty="0"/>
              <a:t>DP is always preferred to PP in loose situations</a:t>
            </a:r>
          </a:p>
          <a:p>
            <a:pPr marL="0" indent="0">
              <a:buNone/>
            </a:pPr>
            <a:endParaRPr lang="en-IR" dirty="0"/>
          </a:p>
        </p:txBody>
      </p:sp>
    </p:spTree>
    <p:extLst>
      <p:ext uri="{BB962C8B-B14F-4D97-AF65-F5344CB8AC3E}">
        <p14:creationId xmlns:p14="http://schemas.microsoft.com/office/powerpoint/2010/main" val="35102324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76800"/>
          </a:xfrm>
        </p:spPr>
        <p:txBody>
          <a:bodyPr>
            <a:norm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cs typeface="B Lotus" panose="00000400000000000000" pitchFamily="2" charset="-78"/>
              </a:rPr>
              <a:t>Duan et al. - 2024 - Efficient Training of Large Language Models on Distributed Infrastructures A Survey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>
                <a:cs typeface="B Lotus" panose="00000400000000000000" pitchFamily="2" charset="-78"/>
              </a:rPr>
              <a:t>Wang </a:t>
            </a:r>
            <a:r>
              <a:rPr lang="en-US" dirty="0">
                <a:cs typeface="B Lotus" panose="00000400000000000000" pitchFamily="2" charset="-78"/>
              </a:rPr>
              <a:t>et al. - 2026 - NEST Network- and Memory-Aware Device Placement For Distributed Deep Learning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cs typeface="B Lotus" panose="00000400000000000000" pitchFamily="2" charset="-78"/>
              </a:rPr>
              <a:t>Rajasekaran et al. - Cassini Network-Aware Job Scheduling in Machine Learning Clusters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cs typeface="B Lotus" panose="00000400000000000000" pitchFamily="2" charset="-78"/>
              </a:rPr>
              <a:t>Wang et al. - 2023 - </a:t>
            </a:r>
            <a:r>
              <a:rPr lang="en-US" dirty="0" err="1">
                <a:cs typeface="B Lotus" panose="00000400000000000000" pitchFamily="2" charset="-78"/>
              </a:rPr>
              <a:t>TopoOpt</a:t>
            </a:r>
            <a:r>
              <a:rPr lang="en-US" dirty="0">
                <a:cs typeface="B Lotus" panose="00000400000000000000" pitchFamily="2" charset="-78"/>
              </a:rPr>
              <a:t> Co-optimizing Network Topology and Parallelization Strategy for Distributed Training Jobs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cs typeface="B Lotus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415019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C6517-02E3-85ED-746C-543C91949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5FF69-1DED-8923-3716-5E820B56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3E25B8-92E4-96B8-80B7-9A3C714F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696E5-B77E-2F7A-C185-1919DA3E915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76800"/>
          </a:xfrm>
        </p:spPr>
        <p:txBody>
          <a:bodyPr>
            <a:norm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cs typeface="B Lotus" panose="00000400000000000000" pitchFamily="2" charset="-78"/>
              </a:rPr>
              <a:t>Email: </a:t>
            </a:r>
            <a:r>
              <a:rPr lang="en-US" dirty="0">
                <a:cs typeface="B Lotus" panose="00000400000000000000" pitchFamily="2" charset="-78"/>
                <a:hlinkClick r:id="rId2"/>
              </a:rPr>
              <a:t>karimialireza2004@ut.ac.ir</a:t>
            </a:r>
            <a:endParaRPr lang="en-US" dirty="0">
              <a:cs typeface="B Lotus" panose="00000400000000000000" pitchFamily="2" charset="-78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cs typeface="B Lotus" panose="00000400000000000000" pitchFamily="2" charset="-78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cs typeface="B Lotus" panose="00000400000000000000" pitchFamily="2" charset="-78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cs typeface="B Lotus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92059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07B35-8200-C815-B7B4-FA414D1FE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27697-F5E4-43E8-9477-046C227A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2590800"/>
            <a:ext cx="6172200" cy="1143000"/>
          </a:xfrm>
        </p:spPr>
        <p:txBody>
          <a:bodyPr/>
          <a:lstStyle/>
          <a:p>
            <a:r>
              <a:rPr lang="en-US" dirty="0"/>
              <a:t>Thank you for your attention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9351A4-5744-180A-8AB4-B4349189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C7989-A716-676B-1696-74B52D2D70E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endParaRPr lang="en-US" dirty="0">
              <a:cs typeface="B Lotus" panose="00000400000000000000" pitchFamily="2" charset="-78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cs typeface="B Lotus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379701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3431</TotalTime>
  <Words>497</Words>
  <Application>Microsoft Macintosh PowerPoint</Application>
  <PresentationFormat>On-screen Show (4:3)</PresentationFormat>
  <Paragraphs>182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B Koodak</vt:lpstr>
      <vt:lpstr>B Lotus</vt:lpstr>
      <vt:lpstr>Calibri</vt:lpstr>
      <vt:lpstr>Franklin Gothic Book</vt:lpstr>
      <vt:lpstr>Perpetua</vt:lpstr>
      <vt:lpstr>Times New Roman</vt:lpstr>
      <vt:lpstr>Wingdings 2</vt:lpstr>
      <vt:lpstr>Equity</vt:lpstr>
      <vt:lpstr>Distributed Deep Learning</vt:lpstr>
      <vt:lpstr>Outline</vt:lpstr>
      <vt:lpstr>Outline</vt:lpstr>
      <vt:lpstr>Overview</vt:lpstr>
      <vt:lpstr>Our work’s features</vt:lpstr>
      <vt:lpstr>Outline</vt:lpstr>
      <vt:lpstr>Formulation</vt:lpstr>
      <vt:lpstr>Outline</vt:lpstr>
      <vt:lpstr>MILP and SCIP</vt:lpstr>
      <vt:lpstr>Outline</vt:lpstr>
      <vt:lpstr>Heuristics</vt:lpstr>
      <vt:lpstr>Example</vt:lpstr>
      <vt:lpstr>Outline</vt:lpstr>
      <vt:lpstr>1. Baselines</vt:lpstr>
      <vt:lpstr>2. Prefetch ablations</vt:lpstr>
      <vt:lpstr>3. Different ablations</vt:lpstr>
      <vt:lpstr>4. Different ablations</vt:lpstr>
      <vt:lpstr>5. Placement ablations</vt:lpstr>
      <vt:lpstr>6. Deadline met,makespan and fairness</vt:lpstr>
      <vt:lpstr>7. JCT &amp; lateness</vt:lpstr>
      <vt:lpstr>8. Different prefetching approaches</vt:lpstr>
      <vt:lpstr>9. Joint vs decomposed optimization</vt:lpstr>
      <vt:lpstr>10. DP vs PP</vt:lpstr>
      <vt:lpstr>11. Dispatch rule</vt:lpstr>
      <vt:lpstr>12. VRAM peak</vt:lpstr>
      <vt:lpstr>13. Top baselines</vt:lpstr>
      <vt:lpstr>14. Top baselines</vt:lpstr>
      <vt:lpstr>Outline</vt:lpstr>
      <vt:lpstr>Conclusion</vt:lpstr>
      <vt:lpstr>Reference</vt:lpstr>
      <vt:lpstr>Contact information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Structural Design of Hardware in VHDL</dc:title>
  <dc:creator>mehdi</dc:creator>
  <cp:lastModifiedBy>Microsoft Office User</cp:lastModifiedBy>
  <cp:revision>202</cp:revision>
  <dcterms:created xsi:type="dcterms:W3CDTF">2006-08-16T00:00:00Z</dcterms:created>
  <dcterms:modified xsi:type="dcterms:W3CDTF">2026-08-05T12:31:58Z</dcterms:modified>
</cp:coreProperties>
</file>