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320" r:id="rId2"/>
    <p:sldId id="408" r:id="rId3"/>
    <p:sldId id="358" r:id="rId4"/>
    <p:sldId id="391" r:id="rId5"/>
    <p:sldId id="409" r:id="rId6"/>
    <p:sldId id="410" r:id="rId7"/>
    <p:sldId id="411" r:id="rId8"/>
    <p:sldId id="412" r:id="rId9"/>
    <p:sldId id="413" r:id="rId10"/>
    <p:sldId id="3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</p14:sldIdLst>
        </p14:section>
        <p14:section name="Big LLMs" id="{9E797C49-0BE4-0548-8673-D534792D0021}">
          <p14:sldIdLst>
            <p14:sldId id="408"/>
            <p14:sldId id="358"/>
            <p14:sldId id="391"/>
          </p14:sldIdLst>
        </p14:section>
        <p14:section name="Parallelization" id="{B4D21F49-314A-C841-BC74-4D3142ED5E76}">
          <p14:sldIdLst>
            <p14:sldId id="409"/>
            <p14:sldId id="410"/>
          </p14:sldIdLst>
        </p14:section>
        <p14:section name="Challenges" id="{0560DE52-E423-8046-B045-BB73652495E1}">
          <p14:sldIdLst>
            <p14:sldId id="411"/>
            <p14:sldId id="412"/>
            <p14:sldId id="413"/>
          </p14:sldIdLst>
        </p14:section>
        <p14:section name="End" id="{83D69B9A-961F-DB4F-B057-99C36C09E9E7}">
          <p14:sldIdLst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90C"/>
    <a:srgbClr val="D59B73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8430" autoAdjust="0"/>
  </p:normalViewPr>
  <p:slideViewPr>
    <p:cSldViewPr snapToGrid="0">
      <p:cViewPr varScale="1">
        <p:scale>
          <a:sx n="71" d="100"/>
          <a:sy n="71" d="100"/>
        </p:scale>
        <p:origin x="16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Look at the number of parameters, chip counts and wall clock (days) column</a:t>
            </a:r>
          </a:p>
          <a:p>
            <a:r>
              <a:rPr lang="en-US" dirty="0"/>
              <a:t>R</a:t>
            </a:r>
            <a:r>
              <a:rPr lang="en-IR" dirty="0"/>
              <a:t>emember: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1 trillion parameter model stored in FP16 requires 2 TB of memory.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5090: 32GB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vram</a:t>
            </a:r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Look at the Model, Chips and Days Time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18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03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6CBC-E509-7041-B92F-25C97F10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C8729-2EEC-F28D-A1BB-D6C7A7EE6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039C9-A195-4C7D-9ECB-B4E4D796B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 Number of possible configurations (in log scale) increases with the number of model layers and mechanisms. (GPT models on 16 devices, 2 mechanisms include data and tensor parallelism, 3 mechanisms further include </a:t>
            </a:r>
            <a:r>
              <a:rPr lang="en-US" dirty="0" err="1"/>
              <a:t>pipelineparallelism</a:t>
            </a:r>
            <a:r>
              <a:rPr lang="en-US" dirty="0"/>
              <a:t>, and 4 mechanisms further include </a:t>
            </a:r>
            <a:r>
              <a:rPr lang="en-US" dirty="0" err="1"/>
              <a:t>recomputation</a:t>
            </a:r>
            <a:r>
              <a:rPr lang="en-US" dirty="0"/>
              <a:t>.)</a:t>
            </a:r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85E41-6F52-123D-5321-A0D0BEE5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8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2A76-C07A-8FF4-5246-B3CEBDBD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F9D2E-759B-D0D1-BB25-C05360CD8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D6947-26EF-F010-0884-483EE7BD6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enough space for a whole data to be imported to one replica.</a:t>
            </a:r>
          </a:p>
          <a:p>
            <a:r>
              <a:rPr lang="en-US" dirty="0"/>
              <a:t>Not enough space for the whole model parameter and gradients and … to be in one </a:t>
            </a:r>
            <a:r>
              <a:rPr lang="en-US" dirty="0" err="1"/>
              <a:t>gpu</a:t>
            </a:r>
            <a:endParaRPr lang="en-US" dirty="0"/>
          </a:p>
          <a:p>
            <a:r>
              <a:rPr lang="en-US" dirty="0"/>
              <a:t>Need parallelization planners to do that for us.</a:t>
            </a:r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EBE32-0129-4C5A-6855-037D1A7AF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7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67AD-335C-84E4-CA12-A22DEF2E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243E2-33AE-388D-94F3-C195538AD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75730-B157-1DA6-6142-DB6FC2C7B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4E14B-EEAC-18E6-F650-2F23981E5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46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E1DE-B894-69A5-D601-4C7F4C2B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4A0F8-A5FC-C909-85C5-7A6D54978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FB691-2B5F-D1A3-9CD8-653B4A4D4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9F69-3B73-081A-88BC-0FC1CDD9D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62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F286E-C266-ABDF-68B3-51E2A6EF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CF6B0-5D80-FA8A-F600-F21F4073C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BAE5E-7D24-4289-6531-A20080021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B59E-2364-0E5A-E0CD-BEA546354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3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4050" y="2032445"/>
            <a:ext cx="8191500" cy="2387600"/>
          </a:xfrm>
        </p:spPr>
        <p:txBody>
          <a:bodyPr>
            <a:normAutofit fontScale="90000"/>
          </a:bodyPr>
          <a:lstStyle/>
          <a:p>
            <a:br>
              <a:rPr lang="en-US" i="1" dirty="0">
                <a:solidFill>
                  <a:schemeClr val="accent2"/>
                </a:solidFill>
              </a:rPr>
            </a:br>
            <a:r>
              <a:rPr lang="en-US" i="1" dirty="0">
                <a:solidFill>
                  <a:schemeClr val="accent2"/>
                </a:solidFill>
              </a:rPr>
              <a:t>Project Presentation 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905352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Presenters: Alireza Karimi</a:t>
            </a:r>
            <a:endParaRPr lang="fa-IR">
              <a:solidFill>
                <a:srgbClr val="FFC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32E5-8075-6C52-4B0C-12038138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9834F-BD23-C618-D13F-057B3156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10A00-53A9-1F0A-32D6-EC7E67C0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B87E6F-6922-0634-BA03-3054249D182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Big large language models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1A1D3E-ACCE-44ED-71E1-FFCCAAC7F8F3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93BFA209-B1BC-9241-40FF-F9D7BC31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www.nextbigfuture.com</a:t>
            </a:r>
            <a:r>
              <a:rPr lang="en-US" dirty="0"/>
              <a:t>/2024/12/google-versus-</a:t>
            </a:r>
            <a:r>
              <a:rPr lang="en-US" dirty="0" err="1"/>
              <a:t>xai</a:t>
            </a:r>
            <a:r>
              <a:rPr lang="en-US" dirty="0"/>
              <a:t>-ai-compute-</a:t>
            </a:r>
            <a:r>
              <a:rPr lang="en-US" dirty="0" err="1"/>
              <a:t>scaling.html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429F6-768D-5284-FDB2-005CEBE5C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851" y="1381006"/>
            <a:ext cx="6270297" cy="497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2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Big large language models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57A79959-E909-97C3-4C9C-41A672C0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www.nextbigfuture.com</a:t>
            </a:r>
            <a:r>
              <a:rPr lang="en-US" dirty="0"/>
              <a:t>/2024/12/google-versus-</a:t>
            </a:r>
            <a:r>
              <a:rPr lang="en-US" dirty="0" err="1"/>
              <a:t>xai</a:t>
            </a:r>
            <a:r>
              <a:rPr lang="en-US" dirty="0"/>
              <a:t>-ai-compute-</a:t>
            </a:r>
            <a:r>
              <a:rPr lang="en-US" dirty="0" err="1"/>
              <a:t>scaling.html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94E883-B9B6-D711-C192-76094A0F6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24" y="1794131"/>
            <a:ext cx="10418379" cy="438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3DB-8437-CFC7-C582-5753D061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B31FF-5B90-15B1-0BC0-757EBB60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E3980-6522-0628-E383-847BE0F2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31E5A4-8CDC-104F-F5A2-605FF8971875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Big large language models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6A690F-6217-5B62-FA35-6A79B655D17A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Necessitates utilization of Distributed Deep Learning Systems</a:t>
            </a:r>
          </a:p>
          <a:p>
            <a:r>
              <a:rPr lang="en-US" dirty="0"/>
              <a:t>How to train these big models? Parallelization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F6EF6-7CC3-CA2E-80DE-67C0CCFE1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85" y="3607184"/>
            <a:ext cx="4801456" cy="2385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4C0D38-B795-2D27-E26D-61A0CC8BF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81451"/>
            <a:ext cx="5334000" cy="17399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8BDA3838-9537-63C3-A11C-D1754EA2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 err="1"/>
              <a:t>Paper:Beyond</a:t>
            </a:r>
            <a:r>
              <a:rPr lang="en-US" dirty="0"/>
              <a:t> Data and Model Parallelism for Deep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75476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3459-DBF7-2E8C-37FE-C21F016C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F4252-F5AE-C03F-DED4-DFC3B89C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DA6A9-9F24-5A5E-CC53-D0676BD6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D296F8-E33C-BEE7-52A9-9238CA18495E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Parallelism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33739B8-F251-3459-8E4E-E1555BC3C343}"/>
              </a:ext>
            </a:extLst>
          </p:cNvPr>
          <p:cNvSpPr txBox="1">
            <a:spLocks/>
          </p:cNvSpPr>
          <p:nvPr/>
        </p:nvSpPr>
        <p:spPr>
          <a:xfrm>
            <a:off x="838200" y="1660688"/>
            <a:ext cx="2393731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</a:t>
            </a:r>
          </a:p>
          <a:p>
            <a:r>
              <a:rPr lang="en-US" dirty="0"/>
              <a:t>Model</a:t>
            </a:r>
          </a:p>
          <a:p>
            <a:r>
              <a:rPr lang="en-US" dirty="0"/>
              <a:t>Pipeline</a:t>
            </a:r>
          </a:p>
          <a:p>
            <a:r>
              <a:rPr lang="en-US" dirty="0"/>
              <a:t>Tensor</a:t>
            </a:r>
          </a:p>
          <a:p>
            <a:r>
              <a:rPr lang="en-US" dirty="0"/>
              <a:t>Operator</a:t>
            </a:r>
          </a:p>
          <a:p>
            <a:r>
              <a:rPr lang="en-US" dirty="0"/>
              <a:t>Context</a:t>
            </a:r>
          </a:p>
          <a:p>
            <a:r>
              <a:rPr lang="en-US" dirty="0"/>
              <a:t>Sequence</a:t>
            </a:r>
          </a:p>
          <a:p>
            <a:r>
              <a:rPr lang="en-US" dirty="0"/>
              <a:t>Expert</a:t>
            </a:r>
          </a:p>
          <a:p>
            <a:r>
              <a:rPr lang="en-US" dirty="0"/>
              <a:t>Attribute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05AA6EB-F838-A1D0-834F-D538B5D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 err="1"/>
              <a:t>Paper:Aceso</a:t>
            </a:r>
            <a:r>
              <a:rPr lang="en-US" dirty="0"/>
              <a:t>: Efficient Parallel DNN Training through  Iterative Bottleneck Alleviation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FA066-E57D-0B62-F5D4-04816AD8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736" y="2875565"/>
            <a:ext cx="6858000" cy="28956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9E3BC0-A7C8-97CD-C7B2-F269FB1A9F09}"/>
              </a:ext>
            </a:extLst>
          </p:cNvPr>
          <p:cNvSpPr txBox="1">
            <a:spLocks/>
          </p:cNvSpPr>
          <p:nvPr/>
        </p:nvSpPr>
        <p:spPr>
          <a:xfrm>
            <a:off x="3739056" y="1660688"/>
            <a:ext cx="761474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type is not enough</a:t>
            </a:r>
          </a:p>
          <a:p>
            <a:r>
              <a:rPr lang="en-US" dirty="0"/>
              <a:t>Interdependent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5C8C-A513-2909-BF80-10A8BD2A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13221-FABF-E8FE-747E-181F9D84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0FBCB-A9FE-CFD8-DCC4-2421763A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0E67D7-FE57-9034-027D-303D48E1C7BE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Hybrid Parallelization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3370A6-BC4D-18F6-0536-918975B95B0A}"/>
              </a:ext>
            </a:extLst>
          </p:cNvPr>
          <p:cNvSpPr txBox="1">
            <a:spLocks/>
          </p:cNvSpPr>
          <p:nvPr/>
        </p:nvSpPr>
        <p:spPr>
          <a:xfrm>
            <a:off x="838200" y="1660688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1FE388C-8FEB-E25F-29DF-E5FB5D5C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/>
              <a:t>Papers: Aceso, </a:t>
            </a:r>
            <a:r>
              <a:rPr lang="en-US" dirty="0" err="1"/>
              <a:t>FlexFlow</a:t>
            </a:r>
            <a:r>
              <a:rPr lang="en-US" dirty="0"/>
              <a:t>, Alpa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0EB74-5F7A-B149-5D49-5D4005264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16" y="2114618"/>
            <a:ext cx="2933700" cy="1505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AB96B4-8358-BA23-0AF5-9B62C9894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404" y="1883818"/>
            <a:ext cx="4192314" cy="19055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949AFE-8592-7A7E-EE96-745D9FB21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923" y="4072209"/>
            <a:ext cx="8188740" cy="178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4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646A-98D1-70FA-F7B5-A4735888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E696A-87CC-8748-B0EC-F336A05E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AE388-922B-BE1E-583A-A6C2E74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136D55-4E16-7908-BEBD-3F0FF7BA3134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Bottlenecks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C02275-BA26-AA18-553C-B77E73693C2E}"/>
              </a:ext>
            </a:extLst>
          </p:cNvPr>
          <p:cNvSpPr txBox="1">
            <a:spLocks/>
          </p:cNvSpPr>
          <p:nvPr/>
        </p:nvSpPr>
        <p:spPr>
          <a:xfrm>
            <a:off x="838200" y="1060039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Computation 1000x but network ability 12x. Comm. bottleneck</a:t>
            </a:r>
          </a:p>
          <a:p>
            <a:r>
              <a:rPr lang="en-US" dirty="0"/>
              <a:t>Tensor parallel communication should be chip-to-chip (near) due to high communication volume</a:t>
            </a:r>
          </a:p>
          <a:p>
            <a:r>
              <a:rPr lang="en-US" dirty="0"/>
              <a:t>Fetching data from remote storage</a:t>
            </a:r>
          </a:p>
          <a:p>
            <a:r>
              <a:rPr lang="en-US" dirty="0"/>
              <a:t>Different models have different traffic patterns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D3A96BD-DDEE-22C5-D128-ED320375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893" y="6356350"/>
            <a:ext cx="7202214" cy="365125"/>
          </a:xfrm>
        </p:spPr>
        <p:txBody>
          <a:bodyPr/>
          <a:lstStyle/>
          <a:p>
            <a:r>
              <a:rPr lang="en-US" dirty="0"/>
              <a:t>Paper: </a:t>
            </a:r>
            <a:r>
              <a:rPr lang="en-US" dirty="0" err="1"/>
              <a:t>TopoopT</a:t>
            </a:r>
            <a:r>
              <a:rPr lang="en-US" dirty="0"/>
              <a:t>: Co-optimizing Network Topology and Parallelization Strategy for Distributed Training Jobs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6658C-FDDF-2AF9-8382-DF4932FB9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93" y="4088986"/>
            <a:ext cx="7202214" cy="226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9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1B0E-92BA-54E8-1529-4927C0B7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F4E46-BF82-9C5C-C1DD-7D956762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4A6BE-3263-28D0-B58A-27C9ACD4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AA0D2-D055-8DD1-A760-17C5640E1123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Solution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CA1AD2-7377-5697-5F88-FB39F6C85E4F}"/>
              </a:ext>
            </a:extLst>
          </p:cNvPr>
          <p:cNvSpPr txBox="1">
            <a:spLocks/>
          </p:cNvSpPr>
          <p:nvPr/>
        </p:nvSpPr>
        <p:spPr>
          <a:xfrm>
            <a:off x="838200" y="1660688"/>
            <a:ext cx="9961098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Putting TP partitions in a Rack. (placement-aware partitioning)</a:t>
            </a:r>
          </a:p>
          <a:p>
            <a:r>
              <a:rPr lang="en-US" dirty="0"/>
              <a:t>Using prefetch and caching, gradually importing data for the next mini batch training. Overlapping data-load phase</a:t>
            </a:r>
          </a:p>
          <a:p>
            <a:r>
              <a:rPr lang="en-US" dirty="0"/>
              <a:t>Models with different traffic patterns can be scheduled to be trained together, in a cluster</a:t>
            </a:r>
          </a:p>
          <a:p>
            <a:endParaRPr lang="en-US" dirty="0"/>
          </a:p>
          <a:p>
            <a:r>
              <a:rPr lang="en-US" dirty="0">
                <a:solidFill>
                  <a:srgbClr val="F4A90C"/>
                </a:solidFill>
              </a:rPr>
              <a:t>Having a planner for hybrid parallelization jointly optimized with placement-awareness, and prefetch and caching which supports co-optimized multi-model cluster scheduling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5A14A5C-4800-267C-A374-4A1FF7E6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49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CDE6-03CA-2738-F29F-29679E2E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AE1B0-B931-64EC-F013-77F77A88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80964-791E-C5B4-BFB8-FF9A357C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B38E98-0881-47E2-2776-6BEDDCF06B8C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Referenced paper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6F5A2F-4FD9-A19A-4818-FFF36F65E6D5}"/>
              </a:ext>
            </a:extLst>
          </p:cNvPr>
          <p:cNvSpPr txBox="1">
            <a:spLocks/>
          </p:cNvSpPr>
          <p:nvPr/>
        </p:nvSpPr>
        <p:spPr>
          <a:xfrm>
            <a:off x="838200" y="1660688"/>
            <a:ext cx="9961098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TopoopT</a:t>
            </a:r>
            <a:r>
              <a:rPr lang="en-US" dirty="0"/>
              <a:t>: Co-optimizing Network Topology and Parallelization Strategy for Distributed Training Jobs</a:t>
            </a:r>
          </a:p>
          <a:p>
            <a:r>
              <a:rPr lang="en-US" dirty="0"/>
              <a:t>Beyond data and model parallelism for deep neural networks.</a:t>
            </a:r>
          </a:p>
          <a:p>
            <a:r>
              <a:rPr lang="en-US" dirty="0"/>
              <a:t>Aceso: Efficient Parallel DNN Training through Iterative Bottleneck Alleviation</a:t>
            </a:r>
          </a:p>
          <a:p>
            <a:r>
              <a:rPr lang="en-US" dirty="0"/>
              <a:t>Alpa: Automating inter-and {Intra-Operator} parallelism for distributed deep learning</a:t>
            </a:r>
          </a:p>
          <a:p>
            <a:r>
              <a:rPr lang="en-US" dirty="0"/>
              <a:t>Efficient Training of Large Language Models on Distributed Infrastructures: A Survey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AC5CF54-9280-2389-B5CC-2AF138BC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8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8304</TotalTime>
  <Words>453</Words>
  <Application>Microsoft Macintosh PowerPoint</Application>
  <PresentationFormat>Widescreen</PresentationFormat>
  <Paragraphs>93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BUT-Slide-theme</vt:lpstr>
      <vt:lpstr> Project Presentation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236</cp:revision>
  <dcterms:created xsi:type="dcterms:W3CDTF">2019-01-29T11:09:45Z</dcterms:created>
  <dcterms:modified xsi:type="dcterms:W3CDTF">2026-05-12T09:24:35Z</dcterms:modified>
</cp:coreProperties>
</file>